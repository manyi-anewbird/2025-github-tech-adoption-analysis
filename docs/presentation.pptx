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0" r:id="rId2"/>
    <p:sldId id="264" r:id="rId3"/>
    <p:sldId id="265" r:id="rId4"/>
    <p:sldId id="266" r:id="rId5"/>
    <p:sldId id="262" r:id="rId6"/>
    <p:sldId id="261" r:id="rId7"/>
    <p:sldId id="263" r:id="rId8"/>
    <p:sldId id="259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4"/>
    <p:restoredTop sz="94698"/>
  </p:normalViewPr>
  <p:slideViewPr>
    <p:cSldViewPr snapToGrid="0">
      <p:cViewPr>
        <p:scale>
          <a:sx n="100" d="100"/>
          <a:sy n="100" d="100"/>
        </p:scale>
        <p:origin x="83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9A50-451E-0843-BAA4-EF01446EE748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6CFE-F226-8C40-A156-B8F2317F1D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375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46CFE-F226-8C40-A156-B8F2317F1D2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964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FF68F-518F-04D1-1780-B3478C82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BCA17-1356-7826-212B-18C3A1960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9F1DC-2B92-27F3-1C2F-5CEF3A389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691BE-BA30-D87D-462D-E665CCCE0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46CFE-F226-8C40-A156-B8F2317F1D23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3737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C4F1-2A17-1B18-275D-D7F97088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11092-226E-30FF-6928-3A8AC029D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0D557-1901-7019-7E35-963A6A66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61F74-7C32-8BB7-5B89-1B082DBE0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90A4B-FDF7-61B7-3D50-F9F1F8D0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282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FC3C-9F68-7AC0-C165-201544C1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33B5F-73C9-3655-43C5-6A37D79AB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C02A6-B55D-9D46-3D89-E1204B414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5A725-C0F7-1ED6-D0B8-449A7619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1C37E-16A7-8BB8-12C7-EDED1032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080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2B51-D0FD-788E-70C6-1DFA714F5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FBAE3-A7FD-C237-01E8-11069262A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22DC4-5132-FE53-3512-5EC1FBF3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63FBF-B514-CCD8-B267-BB9D6689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54D8F-7821-2EAB-485F-30D026EE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0705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4F3A9-F605-4AE3-A3B4-9DFE59D6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A77D3-771E-32A9-0F47-8D6C3C67A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B7AE4-659B-73A5-DBCD-18B8C4036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B03E9-B4F6-7C30-E489-C8B9328DC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DE6A9-11AE-5AAC-4931-F97FCE268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3656C-C7E1-BE78-CF17-F5A06442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066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5752-C77C-B6C5-B59A-3E0699A9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1EE75-7895-9CC2-CBEA-0D1A6D60A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F5942-EFB3-9CA8-3ED7-BFE66B238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1B8DB-55D6-97AD-354A-8DEF9CB04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2F4A05-76EC-92E1-2DC9-1470BD2F3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6C7B81-5CF3-36D8-CF8B-2680C85C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E017CD-3FC7-9CF7-392A-7FCBB910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0A813B-8C8B-8F19-B9F9-1AE1DE28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8628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F304-6350-3219-9F01-CEA3ADB7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0FE3F9-2363-A52A-6F6E-C2946365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1976C-10AE-66FA-33FC-98426573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DD225-C4DD-E86B-6D67-DB09CA75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344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D5873-CB79-A033-EC5C-610D4D3B8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52443-3AC3-4988-8E4F-D14B3DF2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C58C7-8456-D35C-2E9A-6FC3D51C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5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01FC-46B6-A2C2-139E-E5840579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F04F0-C2B6-9481-9DB5-2718951C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A4B83-0D8E-0F0E-6274-A67D72FDD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1DB18-F93F-40E1-DBF8-E5600095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233E2-7D0A-A12E-7F28-B8AAA2F4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6654D-24E5-7A87-2CD6-E511F33C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774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E1F6-16CD-8852-9B0C-86BD10CE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28FFB-37B3-9B42-F0B4-BF79CE1A4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A3DD0-F851-5F6A-4B12-63447573B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6C829-2653-8953-D6DA-6D8B4FAF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9CBB7-05F4-2511-5C22-71CD4178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E5793-BC24-2AB4-E18D-5880A6B9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267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843C-EFAD-6C9B-AE43-0698D794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6FBCA-82EB-464B-3559-77FA17D0A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1192F-C7B7-9895-CAB0-B976FAC51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6ED3-370E-F7AC-ACA3-90D7A6BF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5ED32-B545-348C-848B-DB787CBDB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552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C87A67-887E-D0F0-6C7D-64D0758A9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3F3D8-043D-4449-39CD-B3E728DB9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71635-E683-54C0-4BEF-D871A025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FF75A-BD80-15AD-ED9D-BCA35F7D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53751-9BB4-D496-12C4-98081109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932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3FC98-0E5A-1C83-952D-F07B3D507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F10F4-6795-3164-C763-A7D83412E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403CE-108C-E05A-246D-A8C3EEA51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81B6D-8A5D-B54A-914B-C72EB9A61A94}" type="datetimeFigureOut">
              <a:rPr kumimoji="1" lang="zh-CN" altLang="en-US" smtClean="0"/>
              <a:t>2025/12/8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C60BC-0F7F-01A8-C452-436551B74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AEDBC-3FB5-D844-9E01-6DD2AE002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D043C-F0D7-DA4A-9445-E4085A5E9A4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733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7D1D7D-F56C-1828-DA57-884F5733CA03}"/>
              </a:ext>
            </a:extLst>
          </p:cNvPr>
          <p:cNvSpPr/>
          <p:nvPr/>
        </p:nvSpPr>
        <p:spPr>
          <a:xfrm>
            <a:off x="4397603" y="1948060"/>
            <a:ext cx="7353407" cy="9353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361B46-175A-A58E-F0A9-EA2773209D7D}"/>
              </a:ext>
            </a:extLst>
          </p:cNvPr>
          <p:cNvSpPr/>
          <p:nvPr/>
        </p:nvSpPr>
        <p:spPr>
          <a:xfrm>
            <a:off x="4397604" y="2883367"/>
            <a:ext cx="7353406" cy="3567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FB7F20-B0C6-3579-1020-AA9E8CB789A8}"/>
              </a:ext>
            </a:extLst>
          </p:cNvPr>
          <p:cNvSpPr/>
          <p:nvPr/>
        </p:nvSpPr>
        <p:spPr>
          <a:xfrm>
            <a:off x="480349" y="3532347"/>
            <a:ext cx="3078866" cy="27191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sx="104000" sy="10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B2727-D7F9-30A0-ECAE-FD0AB263A855}"/>
              </a:ext>
            </a:extLst>
          </p:cNvPr>
          <p:cNvSpPr txBox="1"/>
          <p:nvPr/>
        </p:nvSpPr>
        <p:spPr>
          <a:xfrm>
            <a:off x="480349" y="273326"/>
            <a:ext cx="6099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ML Dataset introduction</a:t>
            </a:r>
            <a:endParaRPr lang="en-US" sz="2800" b="0" dirty="0">
              <a:effectLst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B62CB9-E053-A89D-A371-D7481386AD79}"/>
              </a:ext>
            </a:extLst>
          </p:cNvPr>
          <p:cNvSpPr/>
          <p:nvPr/>
        </p:nvSpPr>
        <p:spPr>
          <a:xfrm>
            <a:off x="590309" y="960106"/>
            <a:ext cx="5505691" cy="6771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DA7B48-836A-E1D0-E9B6-9B02F2225781}"/>
              </a:ext>
            </a:extLst>
          </p:cNvPr>
          <p:cNvSpPr/>
          <p:nvPr/>
        </p:nvSpPr>
        <p:spPr>
          <a:xfrm>
            <a:off x="6205960" y="950365"/>
            <a:ext cx="5505691" cy="758143"/>
          </a:xfrm>
          <a:prstGeom prst="roundRect">
            <a:avLst/>
          </a:prstGeom>
          <a:solidFill>
            <a:srgbClr val="C1E5F5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7DE28F-10DB-CE67-C869-A8370455A655}"/>
              </a:ext>
            </a:extLst>
          </p:cNvPr>
          <p:cNvSpPr txBox="1"/>
          <p:nvPr/>
        </p:nvSpPr>
        <p:spPr>
          <a:xfrm>
            <a:off x="2435507" y="975500"/>
            <a:ext cx="275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200</a:t>
            </a:r>
            <a:r>
              <a:rPr kumimoji="1"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repos</a:t>
            </a:r>
            <a:endParaRPr kumimoji="1" lang="zh-CN" altLang="en-US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0DAFE-108E-CABF-0D63-A0288CD463C5}"/>
              </a:ext>
            </a:extLst>
          </p:cNvPr>
          <p:cNvSpPr txBox="1"/>
          <p:nvPr/>
        </p:nvSpPr>
        <p:spPr>
          <a:xfrm>
            <a:off x="8074307" y="1006270"/>
            <a:ext cx="275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rgbClr val="002060"/>
                </a:solidFill>
              </a:rPr>
              <a:t>300</a:t>
            </a:r>
            <a:r>
              <a:rPr kumimoji="1" lang="zh-CN" altLang="en-US" sz="3600" b="1" dirty="0">
                <a:solidFill>
                  <a:srgbClr val="002060"/>
                </a:solidFill>
              </a:rPr>
              <a:t> </a:t>
            </a:r>
            <a:r>
              <a:rPr kumimoji="1" lang="en-US" altLang="zh-CN" sz="2400" dirty="0">
                <a:solidFill>
                  <a:srgbClr val="002060"/>
                </a:solidFill>
              </a:rPr>
              <a:t>repos</a:t>
            </a:r>
            <a:endParaRPr kumimoji="1" lang="zh-CN" altLang="en-US" sz="3600" dirty="0">
              <a:solidFill>
                <a:srgbClr val="00206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945502-3D18-4A2E-413C-4A8ED16606F6}"/>
              </a:ext>
            </a:extLst>
          </p:cNvPr>
          <p:cNvSpPr/>
          <p:nvPr/>
        </p:nvSpPr>
        <p:spPr>
          <a:xfrm>
            <a:off x="480349" y="2038481"/>
            <a:ext cx="3078866" cy="37723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/>
              <a:t>Repo_summary</a:t>
            </a:r>
            <a:r>
              <a:rPr kumimoji="1" lang="en-US" altLang="zh-CN" b="1" dirty="0"/>
              <a:t> (13)</a:t>
            </a:r>
            <a:endParaRPr kumimoji="1" lang="zh-CN" alt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D6596D-810B-9685-9846-F528B53E9FD4}"/>
              </a:ext>
            </a:extLst>
          </p:cNvPr>
          <p:cNvSpPr/>
          <p:nvPr/>
        </p:nvSpPr>
        <p:spPr>
          <a:xfrm>
            <a:off x="480349" y="2493451"/>
            <a:ext cx="3078866" cy="37723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/>
              <a:t>Contributors_summary</a:t>
            </a:r>
            <a:r>
              <a:rPr kumimoji="1" lang="en-US" altLang="zh-CN" b="1" dirty="0"/>
              <a:t> (12)</a:t>
            </a:r>
            <a:endParaRPr kumimoji="1" lang="zh-CN" alt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7231A5-D407-BE62-CCA0-1A7ECF82CE60}"/>
              </a:ext>
            </a:extLst>
          </p:cNvPr>
          <p:cNvSpPr/>
          <p:nvPr/>
        </p:nvSpPr>
        <p:spPr>
          <a:xfrm>
            <a:off x="480349" y="2948421"/>
            <a:ext cx="3078866" cy="37723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/>
              <a:t>Commits_summary</a:t>
            </a:r>
            <a:r>
              <a:rPr kumimoji="1" lang="en-US" altLang="zh-CN" b="1" dirty="0"/>
              <a:t> (17)</a:t>
            </a:r>
            <a:endParaRPr kumimoji="1" lang="zh-CN" alt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EB4AFB-01C5-7520-FDF8-F4EBD4234F76}"/>
              </a:ext>
            </a:extLst>
          </p:cNvPr>
          <p:cNvSpPr/>
          <p:nvPr/>
        </p:nvSpPr>
        <p:spPr>
          <a:xfrm>
            <a:off x="480349" y="3532347"/>
            <a:ext cx="3078866" cy="5511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/>
              <a:t>Language_summary</a:t>
            </a:r>
            <a:r>
              <a:rPr kumimoji="1" lang="en-US" altLang="zh-CN" b="1" dirty="0"/>
              <a:t> (22)</a:t>
            </a:r>
            <a:endParaRPr kumimoji="1" lang="zh-CN" altLang="en-US" b="1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4E89F81-5838-8C9B-5983-0599790EB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939259"/>
              </p:ext>
            </p:extLst>
          </p:nvPr>
        </p:nvGraphicFramePr>
        <p:xfrm>
          <a:off x="480349" y="4102645"/>
          <a:ext cx="3078866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374">
                  <a:extLst>
                    <a:ext uri="{9D8B030D-6E8A-4147-A177-3AD203B41FA5}">
                      <a16:colId xmlns:a16="http://schemas.microsoft.com/office/drawing/2014/main" val="1892175451"/>
                    </a:ext>
                  </a:extLst>
                </a:gridCol>
                <a:gridCol w="1638492">
                  <a:extLst>
                    <a:ext uri="{9D8B030D-6E8A-4147-A177-3AD203B41FA5}">
                      <a16:colId xmlns:a16="http://schemas.microsoft.com/office/drawing/2014/main" val="2763498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</a:rPr>
                        <a:t>repo_full_name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</a:rPr>
                        <a:t>language_count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73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primary_language_pct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secondary_language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757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total_bytes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tertiary_language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52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tertiary_language_pct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top_5_language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07124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15759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487F056-A25B-4AD0-9FB8-815BEB76D241}"/>
              </a:ext>
            </a:extLst>
          </p:cNvPr>
          <p:cNvSpPr txBox="1"/>
          <p:nvPr/>
        </p:nvSpPr>
        <p:spPr>
          <a:xfrm>
            <a:off x="1324819" y="6400008"/>
            <a:ext cx="138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 err="1"/>
              <a:t>New_table</a:t>
            </a:r>
            <a:r>
              <a:rPr kumimoji="1" lang="en-US" altLang="zh-CN" b="1" dirty="0"/>
              <a:t>!</a:t>
            </a:r>
            <a:endParaRPr kumimoji="1" lang="zh-CN" altLang="en-US" b="1" dirty="0"/>
          </a:p>
        </p:txBody>
      </p:sp>
      <p:pic>
        <p:nvPicPr>
          <p:cNvPr id="22" name="Picture 2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8CD93CF-7B28-0962-21A2-3DAE88AAA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306" y="3325654"/>
            <a:ext cx="3537707" cy="2977505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AC7690-BA42-2C17-88F8-CFAA15CB5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292" y="3102452"/>
            <a:ext cx="3442014" cy="275361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38C3500-6BB7-3E63-6DCC-A5500D95417A}"/>
              </a:ext>
            </a:extLst>
          </p:cNvPr>
          <p:cNvSpPr txBox="1"/>
          <p:nvPr/>
        </p:nvSpPr>
        <p:spPr>
          <a:xfrm>
            <a:off x="7080361" y="2134053"/>
            <a:ext cx="2589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solidFill>
                  <a:schemeClr val="bg1"/>
                </a:solidFill>
              </a:rPr>
              <a:t>ML Dataset</a:t>
            </a:r>
            <a:endParaRPr kumimoji="1"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19B9F9-B18E-4FF4-70F1-90552B06059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59215" y="2227098"/>
            <a:ext cx="1073077" cy="2215189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3D0CA2-4A1D-F74B-E7D9-49C356623888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559215" y="2682068"/>
            <a:ext cx="1073077" cy="179719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7A04DB-6014-2DF7-8442-BF4323673C7E}"/>
              </a:ext>
            </a:extLst>
          </p:cNvPr>
          <p:cNvCxnSpPr>
            <a:cxnSpLocks/>
            <a:stCxn id="14" idx="3"/>
            <a:endCxn id="24" idx="1"/>
          </p:cNvCxnSpPr>
          <p:nvPr/>
        </p:nvCxnSpPr>
        <p:spPr>
          <a:xfrm>
            <a:off x="3559215" y="3137038"/>
            <a:ext cx="1073077" cy="134222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157EAF-552A-932F-AE7F-39C1FC8F44F2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 flipV="1">
            <a:off x="3559215" y="4479258"/>
            <a:ext cx="1073077" cy="69780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22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35571-350F-F7E1-52BD-801D0FE1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65D3C9F-7776-9345-1AAB-310450CF1614}"/>
              </a:ext>
            </a:extLst>
          </p:cNvPr>
          <p:cNvSpPr/>
          <p:nvPr/>
        </p:nvSpPr>
        <p:spPr>
          <a:xfrm>
            <a:off x="369613" y="1971209"/>
            <a:ext cx="7353407" cy="9353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7305B6-5F40-1203-ECEF-42563969B6E4}"/>
              </a:ext>
            </a:extLst>
          </p:cNvPr>
          <p:cNvSpPr/>
          <p:nvPr/>
        </p:nvSpPr>
        <p:spPr>
          <a:xfrm>
            <a:off x="369614" y="2906516"/>
            <a:ext cx="7353406" cy="3567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08ED6-4162-F5C0-7C82-6BC566A74F83}"/>
              </a:ext>
            </a:extLst>
          </p:cNvPr>
          <p:cNvSpPr txBox="1"/>
          <p:nvPr/>
        </p:nvSpPr>
        <p:spPr>
          <a:xfrm>
            <a:off x="480349" y="273326"/>
            <a:ext cx="6099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ML Dataset 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– LLM implemented</a:t>
            </a:r>
            <a:endParaRPr lang="en-US" sz="2800" b="0" dirty="0">
              <a:effectLst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0BB027-9E4E-7DA2-B0BC-AFBFD95A7FC3}"/>
              </a:ext>
            </a:extLst>
          </p:cNvPr>
          <p:cNvSpPr/>
          <p:nvPr/>
        </p:nvSpPr>
        <p:spPr>
          <a:xfrm>
            <a:off x="590309" y="960106"/>
            <a:ext cx="5505691" cy="6771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BAEF24-8A49-9E63-F669-0080BD05F2CA}"/>
              </a:ext>
            </a:extLst>
          </p:cNvPr>
          <p:cNvSpPr/>
          <p:nvPr/>
        </p:nvSpPr>
        <p:spPr>
          <a:xfrm>
            <a:off x="6205960" y="950365"/>
            <a:ext cx="5505691" cy="758143"/>
          </a:xfrm>
          <a:prstGeom prst="roundRect">
            <a:avLst/>
          </a:prstGeom>
          <a:solidFill>
            <a:srgbClr val="C1E5F5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A9237-775A-18A6-A4EA-8DE5CD00E725}"/>
              </a:ext>
            </a:extLst>
          </p:cNvPr>
          <p:cNvSpPr txBox="1"/>
          <p:nvPr/>
        </p:nvSpPr>
        <p:spPr>
          <a:xfrm>
            <a:off x="2435507" y="975500"/>
            <a:ext cx="275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200</a:t>
            </a:r>
            <a:r>
              <a:rPr kumimoji="1"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repos</a:t>
            </a:r>
            <a:endParaRPr kumimoji="1" lang="zh-CN" altLang="en-US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E0972C-E4B6-6BA2-59B4-AC1F2B503541}"/>
              </a:ext>
            </a:extLst>
          </p:cNvPr>
          <p:cNvSpPr txBox="1"/>
          <p:nvPr/>
        </p:nvSpPr>
        <p:spPr>
          <a:xfrm>
            <a:off x="8074307" y="1006270"/>
            <a:ext cx="275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rgbClr val="002060"/>
                </a:solidFill>
              </a:rPr>
              <a:t>300</a:t>
            </a:r>
            <a:r>
              <a:rPr kumimoji="1" lang="zh-CN" altLang="en-US" sz="3600" b="1" dirty="0">
                <a:solidFill>
                  <a:srgbClr val="002060"/>
                </a:solidFill>
              </a:rPr>
              <a:t> </a:t>
            </a:r>
            <a:r>
              <a:rPr kumimoji="1" lang="en-US" altLang="zh-CN" sz="2400" dirty="0">
                <a:solidFill>
                  <a:srgbClr val="002060"/>
                </a:solidFill>
              </a:rPr>
              <a:t>repos</a:t>
            </a:r>
            <a:endParaRPr kumimoji="1" lang="zh-CN" altLang="en-US" sz="3600" dirty="0">
              <a:solidFill>
                <a:srgbClr val="002060"/>
              </a:solidFill>
            </a:endParaRPr>
          </a:p>
        </p:txBody>
      </p:sp>
      <p:pic>
        <p:nvPicPr>
          <p:cNvPr id="22" name="Picture 2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B90418A-0729-7973-F17C-177F66DC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010" y="3092509"/>
            <a:ext cx="3537707" cy="2977505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EA97D4-E695-4696-060F-4B92D536D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05" y="3128889"/>
            <a:ext cx="3442014" cy="275361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E69F03D-31C0-11C4-6C1F-971467323E97}"/>
              </a:ext>
            </a:extLst>
          </p:cNvPr>
          <p:cNvSpPr txBox="1"/>
          <p:nvPr/>
        </p:nvSpPr>
        <p:spPr>
          <a:xfrm>
            <a:off x="3052371" y="2157202"/>
            <a:ext cx="2589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solidFill>
                  <a:schemeClr val="bg1"/>
                </a:solidFill>
              </a:rPr>
              <a:t>ML Dataset</a:t>
            </a:r>
            <a:endParaRPr kumimoji="1"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15AF3A7-EBBE-332A-FED9-743BFC5C9703}"/>
              </a:ext>
            </a:extLst>
          </p:cNvPr>
          <p:cNvSpPr/>
          <p:nvPr/>
        </p:nvSpPr>
        <p:spPr>
          <a:xfrm>
            <a:off x="8218678" y="1901883"/>
            <a:ext cx="540631" cy="5106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1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E21071C-05F8-3601-2DA3-D769440B1AEE}"/>
              </a:ext>
            </a:extLst>
          </p:cNvPr>
          <p:cNvSpPr/>
          <p:nvPr/>
        </p:nvSpPr>
        <p:spPr>
          <a:xfrm>
            <a:off x="8218678" y="2535243"/>
            <a:ext cx="540631" cy="5106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2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9D70D1-8CF6-3AF9-7987-AEC32D9D7BCC}"/>
              </a:ext>
            </a:extLst>
          </p:cNvPr>
          <p:cNvSpPr/>
          <p:nvPr/>
        </p:nvSpPr>
        <p:spPr>
          <a:xfrm>
            <a:off x="8218678" y="3194832"/>
            <a:ext cx="540631" cy="51063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3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32854-6BD5-F39E-CA9C-992917EB6A56}"/>
              </a:ext>
            </a:extLst>
          </p:cNvPr>
          <p:cNvSpPr txBox="1"/>
          <p:nvPr/>
        </p:nvSpPr>
        <p:spPr>
          <a:xfrm>
            <a:off x="8963697" y="1972536"/>
            <a:ext cx="186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Get the link</a:t>
            </a:r>
            <a:endParaRPr kumimoji="1" lang="zh-CN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69318-54BD-A905-6EA8-8C54BCACC257}"/>
              </a:ext>
            </a:extLst>
          </p:cNvPr>
          <p:cNvSpPr txBox="1"/>
          <p:nvPr/>
        </p:nvSpPr>
        <p:spPr>
          <a:xfrm>
            <a:off x="8963696" y="2605896"/>
            <a:ext cx="2374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 to readme files</a:t>
            </a:r>
            <a:endParaRPr kumimoji="1" lang="zh-CN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A24C1F-69A4-19D7-C2DD-6FDB84F52A26}"/>
              </a:ext>
            </a:extLst>
          </p:cNvPr>
          <p:cNvSpPr txBox="1"/>
          <p:nvPr/>
        </p:nvSpPr>
        <p:spPr>
          <a:xfrm>
            <a:off x="8963696" y="3128889"/>
            <a:ext cx="2374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Summarize the following contents</a:t>
            </a:r>
            <a:endParaRPr kumimoji="1" lang="zh-CN" altLang="en-US" b="1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22B1D86-D5DE-59AC-659D-FA500408F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094376"/>
              </p:ext>
            </p:extLst>
          </p:nvPr>
        </p:nvGraphicFramePr>
        <p:xfrm>
          <a:off x="8074307" y="3943269"/>
          <a:ext cx="3637344" cy="23912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37344">
                  <a:extLst>
                    <a:ext uri="{9D8B030D-6E8A-4147-A177-3AD203B41FA5}">
                      <a16:colId xmlns:a16="http://schemas.microsoft.com/office/drawing/2014/main" val="2965260357"/>
                    </a:ext>
                  </a:extLst>
                </a:gridCol>
              </a:tblGrid>
              <a:tr h="3948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LLM new features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074380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category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747124"/>
                  </a:ext>
                </a:extLst>
              </a:tr>
              <a:tr h="400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complexity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608106"/>
                  </a:ext>
                </a:extLst>
              </a:tr>
              <a:tr h="400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tech_stack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32553"/>
                  </a:ext>
                </a:extLst>
              </a:tr>
              <a:tr h="400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audience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79899"/>
                  </a:ext>
                </a:extLst>
              </a:tr>
              <a:tr h="40037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use_case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063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1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B9C2-7E63-6C96-6C73-1EFEDC25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1B91DD-A4C4-7035-536A-CD1AB3579E71}"/>
              </a:ext>
            </a:extLst>
          </p:cNvPr>
          <p:cNvSpPr txBox="1"/>
          <p:nvPr/>
        </p:nvSpPr>
        <p:spPr>
          <a:xfrm>
            <a:off x="438244" y="326113"/>
            <a:ext cx="6098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End-to-End Data Pipeline with LLM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FD30B3-7AB9-F612-1DDE-9E6B775854E9}"/>
              </a:ext>
            </a:extLst>
          </p:cNvPr>
          <p:cNvSpPr/>
          <p:nvPr/>
        </p:nvSpPr>
        <p:spPr>
          <a:xfrm>
            <a:off x="279802" y="946278"/>
            <a:ext cx="1335749" cy="24589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Pipeline</a:t>
            </a:r>
          </a:p>
          <a:p>
            <a:pPr algn="ctr"/>
            <a:r>
              <a:rPr kumimoji="1" lang="en-US" altLang="zh-CN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  <a:endParaRPr kumimoji="1" lang="zh-CN" alt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EE1C86AA-5EF1-512C-0CDC-1ADD196BD486}"/>
              </a:ext>
            </a:extLst>
          </p:cNvPr>
          <p:cNvSpPr/>
          <p:nvPr/>
        </p:nvSpPr>
        <p:spPr>
          <a:xfrm>
            <a:off x="1545318" y="3913463"/>
            <a:ext cx="1198964" cy="674465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Selection</a:t>
            </a: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9">
            <a:extLst>
              <a:ext uri="{FF2B5EF4-FFF2-40B4-BE49-F238E27FC236}">
                <a16:creationId xmlns:a16="http://schemas.microsoft.com/office/drawing/2014/main" id="{2903D286-AB99-7C74-9DD3-009A3F889CC5}"/>
              </a:ext>
            </a:extLst>
          </p:cNvPr>
          <p:cNvSpPr/>
          <p:nvPr/>
        </p:nvSpPr>
        <p:spPr>
          <a:xfrm>
            <a:off x="4850285" y="3918212"/>
            <a:ext cx="1539499" cy="674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Processing</a:t>
            </a:r>
            <a:endParaRPr kumimoji="1" lang="zh-CN" alt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0">
            <a:extLst>
              <a:ext uri="{FF2B5EF4-FFF2-40B4-BE49-F238E27FC236}">
                <a16:creationId xmlns:a16="http://schemas.microsoft.com/office/drawing/2014/main" id="{42DB62D9-BB06-5753-056D-B966C54C0A2B}"/>
              </a:ext>
            </a:extLst>
          </p:cNvPr>
          <p:cNvSpPr/>
          <p:nvPr/>
        </p:nvSpPr>
        <p:spPr>
          <a:xfrm>
            <a:off x="6836582" y="3918212"/>
            <a:ext cx="1150695" cy="67446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1">
            <a:extLst>
              <a:ext uri="{FF2B5EF4-FFF2-40B4-BE49-F238E27FC236}">
                <a16:creationId xmlns:a16="http://schemas.microsoft.com/office/drawing/2014/main" id="{757B2094-0402-3777-A385-FD2F1B451C37}"/>
              </a:ext>
            </a:extLst>
          </p:cNvPr>
          <p:cNvSpPr/>
          <p:nvPr/>
        </p:nvSpPr>
        <p:spPr>
          <a:xfrm>
            <a:off x="8434075" y="3923306"/>
            <a:ext cx="1441351" cy="6744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endParaRPr kumimoji="1" lang="zh-CN" alt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线箭头连接符 12">
            <a:extLst>
              <a:ext uri="{FF2B5EF4-FFF2-40B4-BE49-F238E27FC236}">
                <a16:creationId xmlns:a16="http://schemas.microsoft.com/office/drawing/2014/main" id="{5600C482-D620-D752-6FC5-5850095B3D0A}"/>
              </a:ext>
            </a:extLst>
          </p:cNvPr>
          <p:cNvCxnSpPr>
            <a:cxnSpLocks/>
          </p:cNvCxnSpPr>
          <p:nvPr/>
        </p:nvCxnSpPr>
        <p:spPr>
          <a:xfrm>
            <a:off x="1151269" y="4205268"/>
            <a:ext cx="357074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3">
            <a:extLst>
              <a:ext uri="{FF2B5EF4-FFF2-40B4-BE49-F238E27FC236}">
                <a16:creationId xmlns:a16="http://schemas.microsoft.com/office/drawing/2014/main" id="{B81B2837-08E1-D693-8F88-0F2347E43F14}"/>
              </a:ext>
            </a:extLst>
          </p:cNvPr>
          <p:cNvCxnSpPr>
            <a:cxnSpLocks/>
            <a:stCxn id="10" idx="3"/>
            <a:endCxn id="39" idx="1"/>
          </p:cNvCxnSpPr>
          <p:nvPr/>
        </p:nvCxnSpPr>
        <p:spPr>
          <a:xfrm>
            <a:off x="2744282" y="4250696"/>
            <a:ext cx="460241" cy="47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4">
            <a:extLst>
              <a:ext uri="{FF2B5EF4-FFF2-40B4-BE49-F238E27FC236}">
                <a16:creationId xmlns:a16="http://schemas.microsoft.com/office/drawing/2014/main" id="{BC645E5A-DFEE-8A1F-64D2-FCAC679D2DC0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389784" y="4255444"/>
            <a:ext cx="446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5">
            <a:extLst>
              <a:ext uri="{FF2B5EF4-FFF2-40B4-BE49-F238E27FC236}">
                <a16:creationId xmlns:a16="http://schemas.microsoft.com/office/drawing/2014/main" id="{2336BED8-6EC1-BECC-19AC-1A53E845989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7987277" y="4255444"/>
            <a:ext cx="446798" cy="50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8">
            <a:extLst>
              <a:ext uri="{FF2B5EF4-FFF2-40B4-BE49-F238E27FC236}">
                <a16:creationId xmlns:a16="http://schemas.microsoft.com/office/drawing/2014/main" id="{C8CC8874-2F48-C96B-D760-5FB466CE2E29}"/>
              </a:ext>
            </a:extLst>
          </p:cNvPr>
          <p:cNvSpPr/>
          <p:nvPr/>
        </p:nvSpPr>
        <p:spPr>
          <a:xfrm>
            <a:off x="10322224" y="3930525"/>
            <a:ext cx="1377819" cy="67446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Notification</a:t>
            </a: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线箭头连接符 19">
            <a:extLst>
              <a:ext uri="{FF2B5EF4-FFF2-40B4-BE49-F238E27FC236}">
                <a16:creationId xmlns:a16="http://schemas.microsoft.com/office/drawing/2014/main" id="{8C194BC8-9CD1-53C0-711D-CE97225C6230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9875426" y="4260538"/>
            <a:ext cx="446798" cy="72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60B41E85-AF5E-4B3A-5DE2-528DF1787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124" y="3638704"/>
            <a:ext cx="1120222" cy="1120222"/>
          </a:xfrm>
          <a:prstGeom prst="rect">
            <a:avLst/>
          </a:prstGeom>
        </p:spPr>
      </p:pic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E2C19B5D-F88D-D9F3-53D5-E461EDFE3D3F}"/>
              </a:ext>
            </a:extLst>
          </p:cNvPr>
          <p:cNvSpPr/>
          <p:nvPr/>
        </p:nvSpPr>
        <p:spPr>
          <a:xfrm>
            <a:off x="220922" y="5096156"/>
            <a:ext cx="2069830" cy="954176"/>
          </a:xfrm>
          <a:prstGeom prst="wedgeRoundRectCallout">
            <a:avLst>
              <a:gd name="adj1" fmla="val 35142"/>
              <a:gd name="adj2" fmla="val -8497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94839C-1CBB-2D54-D33C-5546D7042C0E}"/>
              </a:ext>
            </a:extLst>
          </p:cNvPr>
          <p:cNvSpPr txBox="1"/>
          <p:nvPr/>
        </p:nvSpPr>
        <p:spPr>
          <a:xfrm>
            <a:off x="187124" y="5196137"/>
            <a:ext cx="2103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Pick signals that describe repo </a:t>
            </a:r>
            <a:r>
              <a:rPr lang="en-US" sz="1200" b="1" i="1" dirty="0"/>
              <a:t>popularity, activity, contributor structure</a:t>
            </a:r>
            <a:r>
              <a:rPr lang="en-US" sz="1200" i="1" dirty="0"/>
              <a:t>,</a:t>
            </a:r>
            <a:r>
              <a:rPr lang="en-US" sz="1200" dirty="0"/>
              <a:t> and </a:t>
            </a:r>
            <a:r>
              <a:rPr lang="en-US" sz="1200" b="1" i="1" dirty="0"/>
              <a:t>language mix</a:t>
            </a:r>
            <a:r>
              <a:rPr lang="en-US" sz="1200" dirty="0"/>
              <a:t>.</a:t>
            </a:r>
            <a:endParaRPr kumimoji="1" lang="zh-CN" altLang="en-US" sz="1200" dirty="0"/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208EBA60-5EB5-59C0-FB43-1230BE20EB48}"/>
              </a:ext>
            </a:extLst>
          </p:cNvPr>
          <p:cNvSpPr/>
          <p:nvPr/>
        </p:nvSpPr>
        <p:spPr>
          <a:xfrm>
            <a:off x="3972648" y="5124738"/>
            <a:ext cx="2147915" cy="1058881"/>
          </a:xfrm>
          <a:prstGeom prst="wedgeRoundRectCallout">
            <a:avLst>
              <a:gd name="adj1" fmla="val 26186"/>
              <a:gd name="adj2" fmla="val -99914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5D8667-2A51-6B1F-C7F4-EE41633A8AD5}"/>
              </a:ext>
            </a:extLst>
          </p:cNvPr>
          <p:cNvSpPr txBox="1"/>
          <p:nvPr/>
        </p:nvSpPr>
        <p:spPr>
          <a:xfrm>
            <a:off x="4037673" y="5157744"/>
            <a:ext cx="2103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Filtering: </a:t>
            </a:r>
            <a:r>
              <a:rPr lang="en-US" sz="1200" dirty="0"/>
              <a:t>drop rows missing important signals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r>
              <a:rPr lang="en-US" altLang="zh-CN" sz="1200" b="1" dirty="0"/>
              <a:t>Imputation: </a:t>
            </a:r>
            <a:r>
              <a:rPr lang="en-US" sz="1200" dirty="0"/>
              <a:t>fill </a:t>
            </a:r>
            <a:r>
              <a:rPr lang="en-US" sz="1200" dirty="0" err="1"/>
              <a:t>NaNs</a:t>
            </a:r>
            <a:r>
              <a:rPr lang="en-US" sz="1200" dirty="0"/>
              <a:t> with 0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r>
              <a:rPr lang="en-US" sz="1200" b="1" dirty="0"/>
              <a:t>Scaling:</a:t>
            </a:r>
            <a:r>
              <a:rPr lang="en-US" sz="1200" dirty="0"/>
              <a:t> </a:t>
            </a:r>
            <a:r>
              <a:rPr lang="en-US" sz="1200" dirty="0" err="1"/>
              <a:t>StandardScaler</a:t>
            </a:r>
            <a:endParaRPr lang="en-US" sz="1200" dirty="0"/>
          </a:p>
          <a:p>
            <a:r>
              <a:rPr kumimoji="1" lang="en-US" altLang="zh-CN" sz="1200" b="1" dirty="0"/>
              <a:t>Embedding</a:t>
            </a:r>
            <a:endParaRPr kumimoji="1" lang="zh-CN" altLang="en-US" sz="1200" b="1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D07C1629-F08A-0B0A-D767-0BA20975D82E}"/>
              </a:ext>
            </a:extLst>
          </p:cNvPr>
          <p:cNvSpPr/>
          <p:nvPr/>
        </p:nvSpPr>
        <p:spPr>
          <a:xfrm>
            <a:off x="6307970" y="5096156"/>
            <a:ext cx="1868834" cy="954176"/>
          </a:xfrm>
          <a:prstGeom prst="wedgeRoundRectCallout">
            <a:avLst>
              <a:gd name="adj1" fmla="val 16990"/>
              <a:gd name="adj2" fmla="val -9019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B6D1AD-4BA0-1C61-8C5B-20B1B995F76B}"/>
              </a:ext>
            </a:extLst>
          </p:cNvPr>
          <p:cNvSpPr txBox="1"/>
          <p:nvPr/>
        </p:nvSpPr>
        <p:spPr>
          <a:xfrm>
            <a:off x="6279821" y="5173104"/>
            <a:ext cx="194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Algorithm: </a:t>
            </a:r>
            <a:r>
              <a:rPr lang="en-US" sz="1200" dirty="0" err="1"/>
              <a:t>Kmeans</a:t>
            </a:r>
            <a:r>
              <a:rPr lang="en-US" sz="1200" dirty="0"/>
              <a:t> with  clusters=4</a:t>
            </a:r>
          </a:p>
          <a:p>
            <a:r>
              <a:rPr lang="en-US" sz="1200" b="1" dirty="0"/>
              <a:t>Output:</a:t>
            </a:r>
            <a:r>
              <a:rPr lang="en-US" sz="1200" dirty="0"/>
              <a:t> a cluster label (0–3) appended to each repo.</a:t>
            </a:r>
            <a:endParaRPr kumimoji="1" lang="zh-CN" altLang="en-US" sz="1200" dirty="0"/>
          </a:p>
        </p:txBody>
      </p: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54881641-563E-9615-B4D6-F956CEBC1283}"/>
              </a:ext>
            </a:extLst>
          </p:cNvPr>
          <p:cNvSpPr/>
          <p:nvPr/>
        </p:nvSpPr>
        <p:spPr>
          <a:xfrm>
            <a:off x="8360625" y="5124741"/>
            <a:ext cx="1749629" cy="954176"/>
          </a:xfrm>
          <a:prstGeom prst="wedgeRoundRectCallout">
            <a:avLst>
              <a:gd name="adj1" fmla="val -14127"/>
              <a:gd name="adj2" fmla="val -94935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0A705C-D1C1-436C-CFD5-95783FF3ED1A}"/>
              </a:ext>
            </a:extLst>
          </p:cNvPr>
          <p:cNvSpPr txBox="1"/>
          <p:nvPr/>
        </p:nvSpPr>
        <p:spPr>
          <a:xfrm>
            <a:off x="8434075" y="5196137"/>
            <a:ext cx="1749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compute </a:t>
            </a:r>
            <a:r>
              <a:rPr lang="en-US" sz="1200" b="1" dirty="0"/>
              <a:t>means/medians </a:t>
            </a:r>
            <a:r>
              <a:rPr lang="en-US" sz="1200" dirty="0"/>
              <a:t>to create an interpretable “signature” per cluster.</a:t>
            </a:r>
            <a:endParaRPr kumimoji="1" lang="zh-CN" altLang="en-US" sz="1200" dirty="0"/>
          </a:p>
        </p:txBody>
      </p:sp>
      <p:sp>
        <p:nvSpPr>
          <p:cNvPr id="32" name="Rounded Rectangular Callout 31">
            <a:extLst>
              <a:ext uri="{FF2B5EF4-FFF2-40B4-BE49-F238E27FC236}">
                <a16:creationId xmlns:a16="http://schemas.microsoft.com/office/drawing/2014/main" id="{B2AED956-EBC2-F205-5C44-7C4E7BF09F60}"/>
              </a:ext>
            </a:extLst>
          </p:cNvPr>
          <p:cNvSpPr/>
          <p:nvPr/>
        </p:nvSpPr>
        <p:spPr>
          <a:xfrm>
            <a:off x="10322224" y="5111515"/>
            <a:ext cx="1472945" cy="954176"/>
          </a:xfrm>
          <a:prstGeom prst="wedgeRoundRectCallout">
            <a:avLst>
              <a:gd name="adj1" fmla="val 7391"/>
              <a:gd name="adj2" fmla="val -9641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Slack notification for success or fail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A958D6-036D-DE43-0993-A0E52F93EA69}"/>
              </a:ext>
            </a:extLst>
          </p:cNvPr>
          <p:cNvSpPr txBox="1"/>
          <p:nvPr/>
        </p:nvSpPr>
        <p:spPr>
          <a:xfrm>
            <a:off x="90932" y="4680555"/>
            <a:ext cx="1334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ML Table</a:t>
            </a:r>
            <a:endParaRPr kumimoji="1" lang="zh-CN" altLang="en-US" sz="1200" b="1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046425-A83C-3CB0-0DA3-4AD6168E8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550" y="946278"/>
            <a:ext cx="10465129" cy="2444291"/>
          </a:xfrm>
          <a:prstGeom prst="rect">
            <a:avLst/>
          </a:prstGeom>
        </p:spPr>
      </p:pic>
      <p:sp>
        <p:nvSpPr>
          <p:cNvPr id="39" name="矩形 8">
            <a:extLst>
              <a:ext uri="{FF2B5EF4-FFF2-40B4-BE49-F238E27FC236}">
                <a16:creationId xmlns:a16="http://schemas.microsoft.com/office/drawing/2014/main" id="{02D3F561-1F0B-275D-A6BB-7B3595DFB405}"/>
              </a:ext>
            </a:extLst>
          </p:cNvPr>
          <p:cNvSpPr/>
          <p:nvPr/>
        </p:nvSpPr>
        <p:spPr>
          <a:xfrm>
            <a:off x="3204523" y="3918212"/>
            <a:ext cx="1198964" cy="674465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</a:p>
          <a:p>
            <a:pPr algn="ctr"/>
            <a:r>
              <a:rPr kumimoji="1"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Enriched</a:t>
            </a: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直线箭头连接符 13">
            <a:extLst>
              <a:ext uri="{FF2B5EF4-FFF2-40B4-BE49-F238E27FC236}">
                <a16:creationId xmlns:a16="http://schemas.microsoft.com/office/drawing/2014/main" id="{5002B34D-54F9-D43C-CD23-20A32787BF36}"/>
              </a:ext>
            </a:extLst>
          </p:cNvPr>
          <p:cNvCxnSpPr>
            <a:cxnSpLocks/>
            <a:stCxn id="39" idx="3"/>
            <a:endCxn id="11" idx="1"/>
          </p:cNvCxnSpPr>
          <p:nvPr/>
        </p:nvCxnSpPr>
        <p:spPr>
          <a:xfrm flipV="1">
            <a:off x="4403487" y="4255444"/>
            <a:ext cx="44679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ular Callout 54">
            <a:extLst>
              <a:ext uri="{FF2B5EF4-FFF2-40B4-BE49-F238E27FC236}">
                <a16:creationId xmlns:a16="http://schemas.microsoft.com/office/drawing/2014/main" id="{D993AA32-379E-73FF-6446-C192DC800645}"/>
              </a:ext>
            </a:extLst>
          </p:cNvPr>
          <p:cNvSpPr/>
          <p:nvPr/>
        </p:nvSpPr>
        <p:spPr>
          <a:xfrm>
            <a:off x="2450010" y="5096156"/>
            <a:ext cx="1318726" cy="954176"/>
          </a:xfrm>
          <a:prstGeom prst="wedgeRoundRectCallout">
            <a:avLst>
              <a:gd name="adj1" fmla="val 35142"/>
              <a:gd name="adj2" fmla="val -84979"/>
              <a:gd name="adj3" fmla="val 16667"/>
            </a:avLst>
          </a:prstGeom>
          <a:solidFill>
            <a:srgbClr val="C0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9242E9-91F1-88E8-D259-7CFD48D694DB}"/>
              </a:ext>
            </a:extLst>
          </p:cNvPr>
          <p:cNvSpPr txBox="1"/>
          <p:nvPr/>
        </p:nvSpPr>
        <p:spPr>
          <a:xfrm>
            <a:off x="2521829" y="5342411"/>
            <a:ext cx="13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LLM generate 4 more features</a:t>
            </a:r>
          </a:p>
        </p:txBody>
      </p:sp>
    </p:spTree>
    <p:extLst>
      <p:ext uri="{BB962C8B-B14F-4D97-AF65-F5344CB8AC3E}">
        <p14:creationId xmlns:p14="http://schemas.microsoft.com/office/powerpoint/2010/main" val="187167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E66D1-BD6E-B395-0DB1-D7B6B550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632880-44B8-7352-F257-24A7E1885186}"/>
              </a:ext>
            </a:extLst>
          </p:cNvPr>
          <p:cNvSpPr txBox="1"/>
          <p:nvPr/>
        </p:nvSpPr>
        <p:spPr>
          <a:xfrm>
            <a:off x="438244" y="326113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Insights &amp; Application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B1725F7C-02E3-2124-5CF8-D36B4B3C7870}"/>
              </a:ext>
            </a:extLst>
          </p:cNvPr>
          <p:cNvSpPr/>
          <p:nvPr/>
        </p:nvSpPr>
        <p:spPr>
          <a:xfrm>
            <a:off x="646899" y="855772"/>
            <a:ext cx="10931541" cy="51064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Clusters</a:t>
            </a:r>
            <a:endParaRPr kumimoji="1"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B69F76-53B4-DF3E-74FB-31469D56F5D9}"/>
              </a:ext>
            </a:extLst>
          </p:cNvPr>
          <p:cNvSpPr/>
          <p:nvPr/>
        </p:nvSpPr>
        <p:spPr>
          <a:xfrm>
            <a:off x="512983" y="2276983"/>
            <a:ext cx="540631" cy="51063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002060"/>
                </a:solidFill>
              </a:rPr>
              <a:t>1</a:t>
            </a:r>
            <a:endParaRPr kumimoji="1" lang="zh-CN" altLang="en-US" b="1" dirty="0">
              <a:solidFill>
                <a:srgbClr val="00206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75DA85-48FD-6D40-7812-E6D38029827B}"/>
              </a:ext>
            </a:extLst>
          </p:cNvPr>
          <p:cNvCxnSpPr>
            <a:cxnSpLocks/>
          </p:cNvCxnSpPr>
          <p:nvPr/>
        </p:nvCxnSpPr>
        <p:spPr>
          <a:xfrm>
            <a:off x="645575" y="3894813"/>
            <a:ext cx="111654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DCF1BA4-7A37-EEAA-DC67-512D8C96CA30}"/>
              </a:ext>
            </a:extLst>
          </p:cNvPr>
          <p:cNvSpPr/>
          <p:nvPr/>
        </p:nvSpPr>
        <p:spPr>
          <a:xfrm>
            <a:off x="512983" y="4425841"/>
            <a:ext cx="540631" cy="51063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002060"/>
                </a:solidFill>
              </a:rPr>
              <a:t>2</a:t>
            </a:r>
            <a:endParaRPr kumimoji="1"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68C6E0F-874D-97E8-E232-F45A1F58BEC6}"/>
              </a:ext>
            </a:extLst>
          </p:cNvPr>
          <p:cNvSpPr/>
          <p:nvPr/>
        </p:nvSpPr>
        <p:spPr>
          <a:xfrm>
            <a:off x="6181001" y="4386777"/>
            <a:ext cx="540631" cy="51063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002060"/>
                </a:solidFill>
              </a:rPr>
              <a:t>3</a:t>
            </a:r>
            <a:endParaRPr kumimoji="1"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93CC3F7-CED1-B540-302D-4A7F90B6D8BC}"/>
              </a:ext>
            </a:extLst>
          </p:cNvPr>
          <p:cNvSpPr/>
          <p:nvPr/>
        </p:nvSpPr>
        <p:spPr>
          <a:xfrm>
            <a:off x="6210017" y="2194553"/>
            <a:ext cx="540631" cy="51063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002060"/>
                </a:solidFill>
              </a:rPr>
              <a:t>4</a:t>
            </a:r>
            <a:endParaRPr kumimoji="1"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2623C1-C0BA-C84B-078F-7317628F5623}"/>
              </a:ext>
            </a:extLst>
          </p:cNvPr>
          <p:cNvSpPr txBox="1"/>
          <p:nvPr/>
        </p:nvSpPr>
        <p:spPr>
          <a:xfrm>
            <a:off x="1225419" y="1798498"/>
            <a:ext cx="37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Mature Ecosystem Projects</a:t>
            </a:r>
            <a:endParaRPr kumimoji="1" lang="zh-CN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A21C93-9C6C-2DA9-B9F2-A59C8C70EC0E}"/>
              </a:ext>
            </a:extLst>
          </p:cNvPr>
          <p:cNvSpPr txBox="1"/>
          <p:nvPr/>
        </p:nvSpPr>
        <p:spPr>
          <a:xfrm>
            <a:off x="7020219" y="1793383"/>
            <a:ext cx="394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High-Complexity Community Hits</a:t>
            </a:r>
            <a:endParaRPr kumimoji="1" lang="zh-CN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D1481D-16C3-E82B-4F51-FB6C4E9A9AA4}"/>
              </a:ext>
            </a:extLst>
          </p:cNvPr>
          <p:cNvSpPr txBox="1"/>
          <p:nvPr/>
        </p:nvSpPr>
        <p:spPr>
          <a:xfrm>
            <a:off x="7020219" y="4311828"/>
            <a:ext cx="4291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Multi-Language Innovation Projects</a:t>
            </a:r>
            <a:endParaRPr kumimoji="1" lang="zh-CN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FB833C-51CC-43AF-9B12-DB4A2FA796E8}"/>
              </a:ext>
            </a:extLst>
          </p:cNvPr>
          <p:cNvSpPr txBox="1"/>
          <p:nvPr/>
        </p:nvSpPr>
        <p:spPr>
          <a:xfrm>
            <a:off x="1180615" y="4231210"/>
            <a:ext cx="335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Engineering-Driven Projects</a:t>
            </a:r>
            <a:endParaRPr kumimoji="1" lang="zh-CN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A77A51-66E9-0E60-1633-44511FF7D130}"/>
              </a:ext>
            </a:extLst>
          </p:cNvPr>
          <p:cNvSpPr txBox="1"/>
          <p:nvPr/>
        </p:nvSpPr>
        <p:spPr>
          <a:xfrm>
            <a:off x="1225419" y="2249300"/>
            <a:ext cx="51020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stars, forks, and watchers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Stable growth; long repo 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Lower </a:t>
            </a:r>
            <a:r>
              <a:rPr lang="en-US" sz="1400" b="1" dirty="0">
                <a:solidFill>
                  <a:srgbClr val="C00000"/>
                </a:solidFill>
              </a:rPr>
              <a:t>complexity score (LLM)</a:t>
            </a:r>
            <a:endParaRPr lang="en-US" sz="14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Simple </a:t>
            </a:r>
            <a:r>
              <a:rPr lang="en-US" sz="1400" b="1" dirty="0"/>
              <a:t>tech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C00000"/>
                </a:solidFill>
              </a:rPr>
              <a:t>general users</a:t>
            </a:r>
            <a:r>
              <a:rPr lang="en-US" sz="1400" dirty="0">
                <a:solidFill>
                  <a:srgbClr val="C00000"/>
                </a:solidFill>
              </a:rPr>
              <a:t> and </a:t>
            </a:r>
            <a:r>
              <a:rPr lang="en-US" sz="1400" i="1" dirty="0">
                <a:solidFill>
                  <a:srgbClr val="C00000"/>
                </a:solidFill>
              </a:rPr>
              <a:t>sysadmins (LLM)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C714C7-714D-AD14-668A-681A8E685967}"/>
              </a:ext>
            </a:extLst>
          </p:cNvPr>
          <p:cNvSpPr txBox="1"/>
          <p:nvPr/>
        </p:nvSpPr>
        <p:spPr>
          <a:xfrm>
            <a:off x="1180615" y="4681160"/>
            <a:ext cx="47949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stars with strong fork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Higher </a:t>
            </a:r>
            <a:r>
              <a:rPr lang="en-US" sz="1400" b="1" dirty="0" err="1">
                <a:solidFill>
                  <a:srgbClr val="C00000"/>
                </a:solidFill>
              </a:rPr>
              <a:t>complexity_score</a:t>
            </a:r>
            <a:r>
              <a:rPr lang="en-US" sz="1400" dirty="0">
                <a:solidFill>
                  <a:srgbClr val="C00000"/>
                </a:solidFill>
              </a:rPr>
              <a:t> (&gt; 1.5, LLM)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Multi-language </a:t>
            </a:r>
            <a:r>
              <a:rPr lang="en-US" sz="1400" b="1" dirty="0"/>
              <a:t>tech stack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Active contributors (~48)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backend engineers, security engineers, IT ops (LLM)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focus on </a:t>
            </a:r>
            <a:r>
              <a:rPr lang="en-US" sz="1400" b="1" dirty="0">
                <a:solidFill>
                  <a:srgbClr val="C00000"/>
                </a:solidFill>
              </a:rPr>
              <a:t>monitoring, networking, deployment (LLM)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8DC12F-9A01-A160-0B4A-79FA9A82E1DE}"/>
              </a:ext>
            </a:extLst>
          </p:cNvPr>
          <p:cNvSpPr txBox="1"/>
          <p:nvPr/>
        </p:nvSpPr>
        <p:spPr>
          <a:xfrm>
            <a:off x="7020219" y="4748038"/>
            <a:ext cx="47332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stars but less intense commit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Large </a:t>
            </a:r>
            <a:r>
              <a:rPr lang="en-US" sz="1400" b="1" dirty="0"/>
              <a:t>language diversity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High </a:t>
            </a:r>
            <a:r>
              <a:rPr lang="en-US" sz="1400" b="1" dirty="0" err="1">
                <a:solidFill>
                  <a:srgbClr val="C00000"/>
                </a:solidFill>
              </a:rPr>
              <a:t>complexity_score</a:t>
            </a:r>
            <a:r>
              <a:rPr lang="en-US" sz="1400" dirty="0">
                <a:solidFill>
                  <a:srgbClr val="C00000"/>
                </a:solidFill>
              </a:rPr>
              <a:t> (2.0–2.2, LLM)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Audience: </a:t>
            </a:r>
            <a:r>
              <a:rPr lang="en-US" sz="1400" i="1" dirty="0">
                <a:solidFill>
                  <a:srgbClr val="C00000"/>
                </a:solidFill>
              </a:rPr>
              <a:t>researchers, ML engineers, advanced backend </a:t>
            </a:r>
            <a:r>
              <a:rPr lang="en-US" sz="1400" i="1" dirty="0" err="1">
                <a:solidFill>
                  <a:srgbClr val="C00000"/>
                </a:solidFill>
              </a:rPr>
              <a:t>devs</a:t>
            </a:r>
            <a:r>
              <a:rPr lang="en-US" sz="1400" i="1" dirty="0">
                <a:solidFill>
                  <a:srgbClr val="C00000"/>
                </a:solidFill>
              </a:rPr>
              <a:t> (LLM)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computer vision, graphics, ML, data processing (LLM)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AC4DEC-B968-DA65-7B34-2E459A93C87E}"/>
              </a:ext>
            </a:extLst>
          </p:cNvPr>
          <p:cNvSpPr txBox="1"/>
          <p:nvPr/>
        </p:nvSpPr>
        <p:spPr>
          <a:xfrm>
            <a:off x="6978139" y="2173422"/>
            <a:ext cx="46003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stars and watchers; stronger forks-per-star growth rate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Highest </a:t>
            </a:r>
            <a:r>
              <a:rPr lang="en-US" sz="1400" b="1" dirty="0" err="1">
                <a:solidFill>
                  <a:srgbClr val="C00000"/>
                </a:solidFill>
              </a:rPr>
              <a:t>complexity_score</a:t>
            </a:r>
            <a:r>
              <a:rPr lang="en-US" sz="1400" dirty="0">
                <a:solidFill>
                  <a:srgbClr val="C00000"/>
                </a:solidFill>
              </a:rPr>
              <a:t> (~2.5+, LLM)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Rich, diverse </a:t>
            </a:r>
            <a:r>
              <a:rPr lang="en-US" sz="1400" b="1" dirty="0"/>
              <a:t>tech stack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Broad Users (LLM)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web servers, </a:t>
            </a:r>
            <a:r>
              <a:rPr lang="en-US" sz="1400" dirty="0" err="1">
                <a:solidFill>
                  <a:srgbClr val="C00000"/>
                </a:solidFill>
              </a:rPr>
              <a:t>devops</a:t>
            </a:r>
            <a:r>
              <a:rPr lang="en-US" sz="1400" dirty="0">
                <a:solidFill>
                  <a:srgbClr val="C00000"/>
                </a:solidFill>
              </a:rPr>
              <a:t>, automation, deployment (LLM)</a:t>
            </a:r>
            <a:endParaRPr 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BB87AC-C4B3-F90D-9220-36672534CBD4}"/>
              </a:ext>
            </a:extLst>
          </p:cNvPr>
          <p:cNvCxnSpPr>
            <a:cxnSpLocks/>
          </p:cNvCxnSpPr>
          <p:nvPr/>
        </p:nvCxnSpPr>
        <p:spPr>
          <a:xfrm flipV="1">
            <a:off x="5975563" y="2787622"/>
            <a:ext cx="0" cy="2354486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54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FDC37-5003-5E4B-0F2B-612FF5E13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DA5334-D4D2-8565-F422-B1E974DD0FA0}"/>
              </a:ext>
            </a:extLst>
          </p:cNvPr>
          <p:cNvSpPr txBox="1"/>
          <p:nvPr/>
        </p:nvSpPr>
        <p:spPr>
          <a:xfrm>
            <a:off x="438244" y="326113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Insights &amp; Application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AA9F69D1-076D-84D6-14F1-D05CE97D58CB}"/>
              </a:ext>
            </a:extLst>
          </p:cNvPr>
          <p:cNvSpPr/>
          <p:nvPr/>
        </p:nvSpPr>
        <p:spPr>
          <a:xfrm>
            <a:off x="646899" y="1017956"/>
            <a:ext cx="10931541" cy="51064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Clusters</a:t>
            </a:r>
            <a:endParaRPr kumimoji="1"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1A2E58-7C1D-FBC6-2410-DF7A5377C934}"/>
              </a:ext>
            </a:extLst>
          </p:cNvPr>
          <p:cNvSpPr/>
          <p:nvPr/>
        </p:nvSpPr>
        <p:spPr>
          <a:xfrm>
            <a:off x="6643466" y="3381499"/>
            <a:ext cx="5187841" cy="51064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Slack Notification</a:t>
            </a:r>
            <a:endParaRPr kumimoji="1"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22F486-6ECC-52A9-6F1C-A28301EFD251}"/>
              </a:ext>
            </a:extLst>
          </p:cNvPr>
          <p:cNvSpPr/>
          <p:nvPr/>
        </p:nvSpPr>
        <p:spPr>
          <a:xfrm>
            <a:off x="646900" y="1944409"/>
            <a:ext cx="540631" cy="51063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002060"/>
                </a:solidFill>
              </a:rPr>
              <a:t>1</a:t>
            </a:r>
            <a:endParaRPr kumimoji="1" lang="zh-CN" altLang="en-US" b="1" dirty="0">
              <a:solidFill>
                <a:srgbClr val="00206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06E3D2-0D4C-B1DF-6B9F-BC8AC15D304E}"/>
              </a:ext>
            </a:extLst>
          </p:cNvPr>
          <p:cNvCxnSpPr>
            <a:cxnSpLocks/>
          </p:cNvCxnSpPr>
          <p:nvPr/>
        </p:nvCxnSpPr>
        <p:spPr>
          <a:xfrm>
            <a:off x="741904" y="3381499"/>
            <a:ext cx="535409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1AA4C2-15CB-DA86-6A15-7C25011A8586}"/>
              </a:ext>
            </a:extLst>
          </p:cNvPr>
          <p:cNvCxnSpPr>
            <a:cxnSpLocks/>
          </p:cNvCxnSpPr>
          <p:nvPr/>
        </p:nvCxnSpPr>
        <p:spPr>
          <a:xfrm>
            <a:off x="646901" y="5045033"/>
            <a:ext cx="535013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23F2B53-F3C0-A5E4-77BA-AE4D831D3624}"/>
              </a:ext>
            </a:extLst>
          </p:cNvPr>
          <p:cNvSpPr/>
          <p:nvPr/>
        </p:nvSpPr>
        <p:spPr>
          <a:xfrm>
            <a:off x="646901" y="3657601"/>
            <a:ext cx="540631" cy="51063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002060"/>
                </a:solidFill>
              </a:rPr>
              <a:t>2</a:t>
            </a:r>
            <a:endParaRPr kumimoji="1"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67F747-A27E-F373-739F-1105744E6DDA}"/>
              </a:ext>
            </a:extLst>
          </p:cNvPr>
          <p:cNvSpPr/>
          <p:nvPr/>
        </p:nvSpPr>
        <p:spPr>
          <a:xfrm>
            <a:off x="646899" y="5321134"/>
            <a:ext cx="540631" cy="51063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002060"/>
                </a:solidFill>
              </a:rPr>
              <a:t>3</a:t>
            </a:r>
            <a:endParaRPr kumimoji="1"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BB0A60-58F0-07B8-B5ED-84C75C42321A}"/>
              </a:ext>
            </a:extLst>
          </p:cNvPr>
          <p:cNvSpPr/>
          <p:nvPr/>
        </p:nvSpPr>
        <p:spPr>
          <a:xfrm>
            <a:off x="6643466" y="1944408"/>
            <a:ext cx="540631" cy="51063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002060"/>
                </a:solidFill>
              </a:rPr>
              <a:t>4</a:t>
            </a:r>
            <a:endParaRPr kumimoji="1"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CAC614-6BE6-67C2-75BE-D8FB5DB4A274}"/>
              </a:ext>
            </a:extLst>
          </p:cNvPr>
          <p:cNvSpPr txBox="1"/>
          <p:nvPr/>
        </p:nvSpPr>
        <p:spPr>
          <a:xfrm>
            <a:off x="1259231" y="1832798"/>
            <a:ext cx="186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 Activity</a:t>
            </a:r>
            <a:endParaRPr kumimoji="1" lang="zh-CN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F81159-1BFE-98D3-D7B1-F1F97D974E4C}"/>
              </a:ext>
            </a:extLst>
          </p:cNvPr>
          <p:cNvSpPr txBox="1"/>
          <p:nvPr/>
        </p:nvSpPr>
        <p:spPr>
          <a:xfrm>
            <a:off x="7336971" y="1877562"/>
            <a:ext cx="222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Mature Repos</a:t>
            </a:r>
            <a:endParaRPr kumimoji="1" lang="zh-CN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534896-31EF-1D9B-72E9-60469012434B}"/>
              </a:ext>
            </a:extLst>
          </p:cNvPr>
          <p:cNvSpPr txBox="1"/>
          <p:nvPr/>
        </p:nvSpPr>
        <p:spPr>
          <a:xfrm>
            <a:off x="1187530" y="5217297"/>
            <a:ext cx="267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Niche Projects</a:t>
            </a:r>
            <a:endParaRPr kumimoji="1" lang="zh-CN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C5CB34-C667-9720-FE28-DB54A8C6812D}"/>
              </a:ext>
            </a:extLst>
          </p:cNvPr>
          <p:cNvSpPr txBox="1"/>
          <p:nvPr/>
        </p:nvSpPr>
        <p:spPr>
          <a:xfrm>
            <a:off x="1303734" y="3576491"/>
            <a:ext cx="222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Growing Projects</a:t>
            </a:r>
            <a:endParaRPr kumimoji="1" lang="zh-CN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99AB13-F112-65FD-7648-A3BB59A0D60F}"/>
              </a:ext>
            </a:extLst>
          </p:cNvPr>
          <p:cNvSpPr txBox="1"/>
          <p:nvPr/>
        </p:nvSpPr>
        <p:spPr>
          <a:xfrm>
            <a:off x="2672845" y="2151291"/>
            <a:ext cx="2731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Extremely high stars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Very high forks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Moderate contributors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Fewer languages </a:t>
            </a:r>
            <a:endParaRPr kumimoji="1" lang="zh-CN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E03590-6630-31C5-CA10-77481E80BD40}"/>
              </a:ext>
            </a:extLst>
          </p:cNvPr>
          <p:cNvSpPr txBox="1"/>
          <p:nvPr/>
        </p:nvSpPr>
        <p:spPr>
          <a:xfrm>
            <a:off x="3124617" y="3784002"/>
            <a:ext cx="30491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Mid-range stars (7.8K)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Moderate forks (10K)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Active contributors (~48)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Balanced language count (~4.8)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Moderate star growth (41/day)</a:t>
            </a:r>
            <a:endParaRPr kumimoji="1" lang="zh-CN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2757F0-0F56-B600-456F-2B64400E873F}"/>
              </a:ext>
            </a:extLst>
          </p:cNvPr>
          <p:cNvSpPr txBox="1"/>
          <p:nvPr/>
        </p:nvSpPr>
        <p:spPr>
          <a:xfrm>
            <a:off x="2601144" y="5721289"/>
            <a:ext cx="31560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Lower stars (1K)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Very high language diversity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Smaller contributor base (~40)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ow forks per star (0.36)</a:t>
            </a:r>
            <a:endParaRPr kumimoji="1" lang="zh-CN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7E8ABF-343D-48A1-5224-1EB0398C45A3}"/>
              </a:ext>
            </a:extLst>
          </p:cNvPr>
          <p:cNvSpPr txBox="1"/>
          <p:nvPr/>
        </p:nvSpPr>
        <p:spPr>
          <a:xfrm>
            <a:off x="7981610" y="2259228"/>
            <a:ext cx="31560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stars (8K)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Moderate contributors (~53)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Moderate language diversity (~7)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Lower forks-per-star ratio (0.13)</a:t>
            </a:r>
            <a:endParaRPr kumimoji="1" lang="zh-CN" altLang="en-US" sz="1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67FFECA-4E7B-992E-ADA8-4B4E7C1E9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465" y="3912920"/>
            <a:ext cx="5187841" cy="24785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8369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05FB70-D955-6330-57F5-6E14B300E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180" y="841825"/>
            <a:ext cx="9802091" cy="250404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180F58-F562-80C4-8E73-E3695F674343}"/>
              </a:ext>
            </a:extLst>
          </p:cNvPr>
          <p:cNvSpPr txBox="1"/>
          <p:nvPr/>
        </p:nvSpPr>
        <p:spPr>
          <a:xfrm>
            <a:off x="438244" y="326113"/>
            <a:ext cx="6098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End-to-End Data Pipeline with LLM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B27C57-9F42-C1CF-F85E-C7419B72ABF2}"/>
              </a:ext>
            </a:extLst>
          </p:cNvPr>
          <p:cNvSpPr/>
          <p:nvPr/>
        </p:nvSpPr>
        <p:spPr>
          <a:xfrm>
            <a:off x="843431" y="841825"/>
            <a:ext cx="1335749" cy="24589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Pipeline</a:t>
            </a:r>
          </a:p>
          <a:p>
            <a:pPr algn="ctr"/>
            <a:r>
              <a:rPr kumimoji="1" lang="en-US" altLang="zh-CN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  <a:endParaRPr kumimoji="1" lang="zh-CN" alt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E809697F-0319-6746-2917-EC4726B3802E}"/>
              </a:ext>
            </a:extLst>
          </p:cNvPr>
          <p:cNvSpPr/>
          <p:nvPr/>
        </p:nvSpPr>
        <p:spPr>
          <a:xfrm>
            <a:off x="1976938" y="3868036"/>
            <a:ext cx="1435430" cy="674465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Selection</a:t>
            </a: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9">
            <a:extLst>
              <a:ext uri="{FF2B5EF4-FFF2-40B4-BE49-F238E27FC236}">
                <a16:creationId xmlns:a16="http://schemas.microsoft.com/office/drawing/2014/main" id="{9F3CB95D-E5CB-A912-1C39-8B1C00F409D4}"/>
              </a:ext>
            </a:extLst>
          </p:cNvPr>
          <p:cNvSpPr/>
          <p:nvPr/>
        </p:nvSpPr>
        <p:spPr>
          <a:xfrm>
            <a:off x="3791768" y="3861585"/>
            <a:ext cx="1843128" cy="674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Processing</a:t>
            </a:r>
            <a:endParaRPr kumimoji="1" lang="zh-CN" alt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0">
            <a:extLst>
              <a:ext uri="{FF2B5EF4-FFF2-40B4-BE49-F238E27FC236}">
                <a16:creationId xmlns:a16="http://schemas.microsoft.com/office/drawing/2014/main" id="{8FF5B663-A65C-866C-7E1E-657FE8BE7552}"/>
              </a:ext>
            </a:extLst>
          </p:cNvPr>
          <p:cNvSpPr/>
          <p:nvPr/>
        </p:nvSpPr>
        <p:spPr>
          <a:xfrm>
            <a:off x="6014296" y="3861585"/>
            <a:ext cx="1377641" cy="67446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1">
            <a:extLst>
              <a:ext uri="{FF2B5EF4-FFF2-40B4-BE49-F238E27FC236}">
                <a16:creationId xmlns:a16="http://schemas.microsoft.com/office/drawing/2014/main" id="{4C4AE668-0C91-7C20-7B0D-A8A71A780B12}"/>
              </a:ext>
            </a:extLst>
          </p:cNvPr>
          <p:cNvSpPr/>
          <p:nvPr/>
        </p:nvSpPr>
        <p:spPr>
          <a:xfrm>
            <a:off x="7771337" y="3868036"/>
            <a:ext cx="1725622" cy="6744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endParaRPr kumimoji="1" lang="zh-CN" alt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线箭头连接符 12">
            <a:extLst>
              <a:ext uri="{FF2B5EF4-FFF2-40B4-BE49-F238E27FC236}">
                <a16:creationId xmlns:a16="http://schemas.microsoft.com/office/drawing/2014/main" id="{3FFEE87B-85F5-AFD5-A9FA-9DC417CE4C3F}"/>
              </a:ext>
            </a:extLst>
          </p:cNvPr>
          <p:cNvCxnSpPr>
            <a:cxnSpLocks/>
          </p:cNvCxnSpPr>
          <p:nvPr/>
        </p:nvCxnSpPr>
        <p:spPr>
          <a:xfrm>
            <a:off x="1464302" y="4205269"/>
            <a:ext cx="357074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3">
            <a:extLst>
              <a:ext uri="{FF2B5EF4-FFF2-40B4-BE49-F238E27FC236}">
                <a16:creationId xmlns:a16="http://schemas.microsoft.com/office/drawing/2014/main" id="{EE00F8FE-5ED2-6414-3662-FE2A6E7B711A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3412368" y="4198817"/>
            <a:ext cx="379400" cy="64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4">
            <a:extLst>
              <a:ext uri="{FF2B5EF4-FFF2-40B4-BE49-F238E27FC236}">
                <a16:creationId xmlns:a16="http://schemas.microsoft.com/office/drawing/2014/main" id="{3FDF2C31-5DB9-3E0E-8459-6461B028A5F6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634896" y="4198817"/>
            <a:ext cx="379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5">
            <a:extLst>
              <a:ext uri="{FF2B5EF4-FFF2-40B4-BE49-F238E27FC236}">
                <a16:creationId xmlns:a16="http://schemas.microsoft.com/office/drawing/2014/main" id="{E6732BD8-DFE4-EE6F-12B3-AB9BBDE06F1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7391937" y="4198817"/>
            <a:ext cx="379400" cy="64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8">
            <a:extLst>
              <a:ext uri="{FF2B5EF4-FFF2-40B4-BE49-F238E27FC236}">
                <a16:creationId xmlns:a16="http://schemas.microsoft.com/office/drawing/2014/main" id="{5FC2699C-7176-5493-E172-49E4D9FE33E2}"/>
              </a:ext>
            </a:extLst>
          </p:cNvPr>
          <p:cNvSpPr/>
          <p:nvPr/>
        </p:nvSpPr>
        <p:spPr>
          <a:xfrm>
            <a:off x="9876359" y="3868036"/>
            <a:ext cx="1649560" cy="67446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Notification</a:t>
            </a: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线箭头连接符 19">
            <a:extLst>
              <a:ext uri="{FF2B5EF4-FFF2-40B4-BE49-F238E27FC236}">
                <a16:creationId xmlns:a16="http://schemas.microsoft.com/office/drawing/2014/main" id="{93C9B57B-8A0F-A3F8-54BB-4807C58F9ED0}"/>
              </a:ext>
            </a:extLst>
          </p:cNvPr>
          <p:cNvCxnSpPr>
            <a:cxnSpLocks/>
          </p:cNvCxnSpPr>
          <p:nvPr/>
        </p:nvCxnSpPr>
        <p:spPr>
          <a:xfrm flipV="1">
            <a:off x="9496959" y="4198815"/>
            <a:ext cx="40260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9B43D7EA-CB68-D7A7-B923-C4DA349A0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648" y="3645161"/>
            <a:ext cx="1120222" cy="1120222"/>
          </a:xfrm>
          <a:prstGeom prst="rect">
            <a:avLst/>
          </a:prstGeom>
        </p:spPr>
      </p:pic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6F60A4C4-79B8-5D3A-5B91-6F85177FB042}"/>
              </a:ext>
            </a:extLst>
          </p:cNvPr>
          <p:cNvSpPr/>
          <p:nvPr/>
        </p:nvSpPr>
        <p:spPr>
          <a:xfrm>
            <a:off x="220922" y="5096156"/>
            <a:ext cx="2295308" cy="954176"/>
          </a:xfrm>
          <a:prstGeom prst="wedgeRoundRectCallout">
            <a:avLst>
              <a:gd name="adj1" fmla="val 35142"/>
              <a:gd name="adj2" fmla="val -8497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29CBC2-B8CC-3AF2-47A9-7CD630E151B8}"/>
              </a:ext>
            </a:extLst>
          </p:cNvPr>
          <p:cNvSpPr txBox="1"/>
          <p:nvPr/>
        </p:nvSpPr>
        <p:spPr>
          <a:xfrm>
            <a:off x="90932" y="5265399"/>
            <a:ext cx="247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Pick signals that describe repo </a:t>
            </a:r>
            <a:r>
              <a:rPr lang="en-US" sz="1200" b="1" i="1" dirty="0"/>
              <a:t>popularity, activity, contributor structure</a:t>
            </a:r>
            <a:r>
              <a:rPr lang="en-US" sz="1200" i="1" dirty="0"/>
              <a:t>,</a:t>
            </a:r>
            <a:r>
              <a:rPr lang="en-US" sz="1200" dirty="0"/>
              <a:t> and </a:t>
            </a:r>
            <a:r>
              <a:rPr lang="en-US" sz="1200" b="1" i="1" dirty="0"/>
              <a:t>language mix</a:t>
            </a:r>
            <a:r>
              <a:rPr lang="en-US" sz="1200" dirty="0"/>
              <a:t>.</a:t>
            </a:r>
            <a:endParaRPr kumimoji="1" lang="zh-CN" altLang="en-US" sz="1200" dirty="0"/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ADB1B4DC-C4AD-F6C1-C618-C60C76EDF951}"/>
              </a:ext>
            </a:extLst>
          </p:cNvPr>
          <p:cNvSpPr/>
          <p:nvPr/>
        </p:nvSpPr>
        <p:spPr>
          <a:xfrm>
            <a:off x="2698671" y="5111515"/>
            <a:ext cx="2503954" cy="954176"/>
          </a:xfrm>
          <a:prstGeom prst="wedgeRoundRectCallout">
            <a:avLst>
              <a:gd name="adj1" fmla="val 26186"/>
              <a:gd name="adj2" fmla="val -99914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9F5A9C-209B-5E39-F3E6-BADA2ED0E966}"/>
              </a:ext>
            </a:extLst>
          </p:cNvPr>
          <p:cNvSpPr txBox="1"/>
          <p:nvPr/>
        </p:nvSpPr>
        <p:spPr>
          <a:xfrm>
            <a:off x="2821569" y="5173067"/>
            <a:ext cx="2381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Filtering: </a:t>
            </a:r>
            <a:r>
              <a:rPr lang="en-US" sz="1200" dirty="0"/>
              <a:t>drop rows missing important signals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r>
              <a:rPr lang="en-US" altLang="zh-CN" sz="1200" b="1" dirty="0"/>
              <a:t>Imputation: </a:t>
            </a:r>
            <a:r>
              <a:rPr lang="en-US" sz="1200" dirty="0"/>
              <a:t>fill </a:t>
            </a:r>
            <a:r>
              <a:rPr lang="en-US" sz="1200" dirty="0" err="1"/>
              <a:t>NaNs</a:t>
            </a:r>
            <a:r>
              <a:rPr lang="en-US" sz="1200" dirty="0"/>
              <a:t> with 0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r>
              <a:rPr lang="en-US" sz="1200" b="1" dirty="0"/>
              <a:t>Scaling:</a:t>
            </a:r>
            <a:r>
              <a:rPr lang="en-US" sz="1200" dirty="0"/>
              <a:t> </a:t>
            </a:r>
            <a:r>
              <a:rPr lang="en-US" sz="1200" dirty="0" err="1"/>
              <a:t>StandardScaler</a:t>
            </a:r>
            <a:endParaRPr kumimoji="1" lang="zh-CN" altLang="en-US" sz="1200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FC245F2D-0CCF-3E44-512B-022E7CD4966D}"/>
              </a:ext>
            </a:extLst>
          </p:cNvPr>
          <p:cNvSpPr/>
          <p:nvPr/>
        </p:nvSpPr>
        <p:spPr>
          <a:xfrm>
            <a:off x="5385066" y="5111515"/>
            <a:ext cx="2154426" cy="954176"/>
          </a:xfrm>
          <a:prstGeom prst="wedgeRoundRectCallout">
            <a:avLst>
              <a:gd name="adj1" fmla="val 5318"/>
              <a:gd name="adj2" fmla="val -9618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E79005-6D66-A30D-28D7-B3DA5B26884B}"/>
              </a:ext>
            </a:extLst>
          </p:cNvPr>
          <p:cNvSpPr txBox="1"/>
          <p:nvPr/>
        </p:nvSpPr>
        <p:spPr>
          <a:xfrm>
            <a:off x="5507964" y="5173067"/>
            <a:ext cx="2257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Algorithm: </a:t>
            </a:r>
            <a:r>
              <a:rPr lang="en-US" sz="1200" dirty="0" err="1"/>
              <a:t>Kmeans</a:t>
            </a:r>
            <a:r>
              <a:rPr lang="en-US" sz="1200" dirty="0"/>
              <a:t> with  clusters=4</a:t>
            </a:r>
          </a:p>
          <a:p>
            <a:r>
              <a:rPr lang="en-US" sz="1200" b="1" dirty="0"/>
              <a:t>Output:</a:t>
            </a:r>
            <a:r>
              <a:rPr lang="en-US" sz="1200" dirty="0"/>
              <a:t> a cluster label (0–3) appended to each repo.</a:t>
            </a:r>
            <a:endParaRPr kumimoji="1" lang="zh-CN" altLang="en-US" sz="1200" dirty="0"/>
          </a:p>
        </p:txBody>
      </p: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7DD11ADA-CD0B-5DEF-F671-7002F64A223E}"/>
              </a:ext>
            </a:extLst>
          </p:cNvPr>
          <p:cNvSpPr/>
          <p:nvPr/>
        </p:nvSpPr>
        <p:spPr>
          <a:xfrm>
            <a:off x="7721933" y="5111515"/>
            <a:ext cx="2154426" cy="954176"/>
          </a:xfrm>
          <a:prstGeom prst="wedgeRoundRectCallout">
            <a:avLst>
              <a:gd name="adj1" fmla="val -14127"/>
              <a:gd name="adj2" fmla="val -94935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6266DF-1AE1-8457-45BD-4E956A581B56}"/>
              </a:ext>
            </a:extLst>
          </p:cNvPr>
          <p:cNvSpPr txBox="1"/>
          <p:nvPr/>
        </p:nvSpPr>
        <p:spPr>
          <a:xfrm>
            <a:off x="7861466" y="5250078"/>
            <a:ext cx="2014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compute </a:t>
            </a:r>
            <a:r>
              <a:rPr lang="en-US" sz="1200" b="1" dirty="0"/>
              <a:t>means/medians </a:t>
            </a:r>
            <a:r>
              <a:rPr lang="en-US" sz="1200" dirty="0"/>
              <a:t>to create an interpretable “signature” per cluster.</a:t>
            </a:r>
            <a:endParaRPr kumimoji="1" lang="zh-CN" altLang="en-US" sz="1200" dirty="0"/>
          </a:p>
        </p:txBody>
      </p:sp>
      <p:sp>
        <p:nvSpPr>
          <p:cNvPr id="32" name="Rounded Rectangular Callout 31">
            <a:extLst>
              <a:ext uri="{FF2B5EF4-FFF2-40B4-BE49-F238E27FC236}">
                <a16:creationId xmlns:a16="http://schemas.microsoft.com/office/drawing/2014/main" id="{2CDC6850-C4DB-1917-62A4-1CED273D413C}"/>
              </a:ext>
            </a:extLst>
          </p:cNvPr>
          <p:cNvSpPr/>
          <p:nvPr/>
        </p:nvSpPr>
        <p:spPr>
          <a:xfrm>
            <a:off x="10058800" y="5111515"/>
            <a:ext cx="1736369" cy="954176"/>
          </a:xfrm>
          <a:prstGeom prst="wedgeRoundRectCallout">
            <a:avLst>
              <a:gd name="adj1" fmla="val -19598"/>
              <a:gd name="adj2" fmla="val -10240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Slack notification for success or fail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D5F342-516A-A2B8-EE64-03494D73190A}"/>
              </a:ext>
            </a:extLst>
          </p:cNvPr>
          <p:cNvSpPr txBox="1"/>
          <p:nvPr/>
        </p:nvSpPr>
        <p:spPr>
          <a:xfrm>
            <a:off x="299428" y="4680555"/>
            <a:ext cx="1334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ML Table</a:t>
            </a:r>
            <a:endParaRPr kumimoji="1"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09652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B17B-0812-F333-53AD-0201A7076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FFE13-663B-FCAF-2AA8-AB6E70411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77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162B-E245-3137-D157-1F06940C8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842D78-099B-46F1-44F7-FE2213BD406C}"/>
              </a:ext>
            </a:extLst>
          </p:cNvPr>
          <p:cNvSpPr txBox="1"/>
          <p:nvPr/>
        </p:nvSpPr>
        <p:spPr>
          <a:xfrm>
            <a:off x="556998" y="397365"/>
            <a:ext cx="6098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End-to-End Data Pipeline: Tools</a:t>
            </a:r>
            <a:r>
              <a:rPr lang="zh-CN" altLang="en-US" sz="2400" dirty="0"/>
              <a:t> </a:t>
            </a:r>
            <a:r>
              <a:rPr lang="en-US" altLang="zh-CN" sz="2400" dirty="0"/>
              <a:t>Workflow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2FBA0D-782E-19CF-40FB-ABEAE48F0D08}"/>
              </a:ext>
            </a:extLst>
          </p:cNvPr>
          <p:cNvSpPr/>
          <p:nvPr/>
        </p:nvSpPr>
        <p:spPr>
          <a:xfrm>
            <a:off x="877443" y="980287"/>
            <a:ext cx="10600997" cy="6798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Project Management: GitHub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775A2A-55E8-175A-0E83-538D7510A83F}"/>
              </a:ext>
            </a:extLst>
          </p:cNvPr>
          <p:cNvSpPr/>
          <p:nvPr/>
        </p:nvSpPr>
        <p:spPr>
          <a:xfrm>
            <a:off x="877444" y="2475874"/>
            <a:ext cx="2519422" cy="671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Data Collection</a:t>
            </a:r>
            <a:endParaRPr kumimoji="1"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3B8EC6-659C-B63C-5D55-664F0FA03F93}"/>
              </a:ext>
            </a:extLst>
          </p:cNvPr>
          <p:cNvSpPr/>
          <p:nvPr/>
        </p:nvSpPr>
        <p:spPr>
          <a:xfrm>
            <a:off x="6149714" y="2490649"/>
            <a:ext cx="2645421" cy="671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Data Cleaning &amp; Transformation</a:t>
            </a:r>
            <a:endParaRPr kumimoji="1"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94CE3F-AA9D-4D08-3789-074EF0F92460}"/>
              </a:ext>
            </a:extLst>
          </p:cNvPr>
          <p:cNvSpPr/>
          <p:nvPr/>
        </p:nvSpPr>
        <p:spPr>
          <a:xfrm>
            <a:off x="8921143" y="2475874"/>
            <a:ext cx="2519422" cy="671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Workflow Automation</a:t>
            </a:r>
            <a:endParaRPr kumimoji="1"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8777D-3502-1EB2-596C-E0511B764B50}"/>
              </a:ext>
            </a:extLst>
          </p:cNvPr>
          <p:cNvSpPr/>
          <p:nvPr/>
        </p:nvSpPr>
        <p:spPr>
          <a:xfrm>
            <a:off x="877444" y="5743320"/>
            <a:ext cx="10600997" cy="6324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Visualization: </a:t>
            </a:r>
            <a:r>
              <a:rPr lang="en-US" sz="2400" b="1" dirty="0" err="1"/>
              <a:t>Streamlit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FA720-9DC1-C727-056A-382902AD0C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739"/>
          <a:stretch>
            <a:fillRect/>
          </a:stretch>
        </p:blipFill>
        <p:spPr>
          <a:xfrm>
            <a:off x="1130534" y="3082324"/>
            <a:ext cx="529560" cy="6103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581DF2-56EB-D737-7421-570F2CA3087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61318" y="1083502"/>
            <a:ext cx="433954" cy="433954"/>
          </a:xfrm>
          <a:prstGeom prst="ellipse">
            <a:avLst/>
          </a:prstGeom>
          <a:solidFill>
            <a:schemeClr val="bg1"/>
          </a:solidFill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5A8407-DB61-8EF8-26DA-712FACC430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8" r="59933"/>
          <a:stretch>
            <a:fillRect/>
          </a:stretch>
        </p:blipFill>
        <p:spPr>
          <a:xfrm>
            <a:off x="1186439" y="3833366"/>
            <a:ext cx="467228" cy="4540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419BEA-04B2-FCAD-4A80-02A8E94EC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498" y="4557396"/>
            <a:ext cx="403736" cy="40373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8A8362-1F59-6BEF-FA91-FBDE9868DB5E}"/>
              </a:ext>
            </a:extLst>
          </p:cNvPr>
          <p:cNvCxnSpPr>
            <a:cxnSpLocks/>
          </p:cNvCxnSpPr>
          <p:nvPr/>
        </p:nvCxnSpPr>
        <p:spPr>
          <a:xfrm>
            <a:off x="1420053" y="3592356"/>
            <a:ext cx="0" cy="23848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6FE209A-71A8-91C7-0398-64AC59A74329}"/>
              </a:ext>
            </a:extLst>
          </p:cNvPr>
          <p:cNvSpPr txBox="1"/>
          <p:nvPr/>
        </p:nvSpPr>
        <p:spPr>
          <a:xfrm>
            <a:off x="1627463" y="3169001"/>
            <a:ext cx="1183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GitHub API</a:t>
            </a:r>
            <a:endParaRPr kumimoji="1" lang="zh-CN" altLang="en-US" sz="1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4173EB-3BB4-EBF3-BC12-DF52B9A63542}"/>
              </a:ext>
            </a:extLst>
          </p:cNvPr>
          <p:cNvSpPr txBox="1"/>
          <p:nvPr/>
        </p:nvSpPr>
        <p:spPr>
          <a:xfrm>
            <a:off x="1620234" y="3837334"/>
            <a:ext cx="140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Secret Manager</a:t>
            </a:r>
            <a:endParaRPr kumimoji="1" lang="zh-CN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588405-2526-D192-A6FF-A63290B6E58D}"/>
              </a:ext>
            </a:extLst>
          </p:cNvPr>
          <p:cNvSpPr txBox="1"/>
          <p:nvPr/>
        </p:nvSpPr>
        <p:spPr>
          <a:xfrm>
            <a:off x="1627464" y="4505668"/>
            <a:ext cx="140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Cloud Function</a:t>
            </a:r>
            <a:endParaRPr kumimoji="1" lang="zh-CN" altLang="en-US" sz="12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F0282EF-B44A-51AE-54C9-466F1A347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728" y="5231111"/>
            <a:ext cx="403736" cy="403736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FAB217-8B30-B85E-C3C8-5F3CBB161065}"/>
              </a:ext>
            </a:extLst>
          </p:cNvPr>
          <p:cNvCxnSpPr>
            <a:cxnSpLocks/>
          </p:cNvCxnSpPr>
          <p:nvPr/>
        </p:nvCxnSpPr>
        <p:spPr>
          <a:xfrm>
            <a:off x="1418366" y="4287417"/>
            <a:ext cx="0" cy="23848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56E4DC-23B6-88CA-1277-9C306FE335C4}"/>
              </a:ext>
            </a:extLst>
          </p:cNvPr>
          <p:cNvCxnSpPr>
            <a:cxnSpLocks/>
          </p:cNvCxnSpPr>
          <p:nvPr/>
        </p:nvCxnSpPr>
        <p:spPr>
          <a:xfrm>
            <a:off x="1428083" y="4961132"/>
            <a:ext cx="0" cy="23848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C69FA20-4014-7E84-067D-EBE111394F9A}"/>
              </a:ext>
            </a:extLst>
          </p:cNvPr>
          <p:cNvSpPr txBox="1"/>
          <p:nvPr/>
        </p:nvSpPr>
        <p:spPr>
          <a:xfrm>
            <a:off x="1660094" y="5171442"/>
            <a:ext cx="140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Cloud Storage</a:t>
            </a:r>
            <a:endParaRPr kumimoji="1" lang="zh-CN" alt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A1E76C-A139-6F1F-B086-1C85666DD1A5}"/>
              </a:ext>
            </a:extLst>
          </p:cNvPr>
          <p:cNvSpPr txBox="1"/>
          <p:nvPr/>
        </p:nvSpPr>
        <p:spPr>
          <a:xfrm>
            <a:off x="1627464" y="3381122"/>
            <a:ext cx="1763752" cy="22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the dataset</a:t>
            </a:r>
            <a:endParaRPr kumimoji="1"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F7D188-CC68-995A-2753-9BB738F48540}"/>
              </a:ext>
            </a:extLst>
          </p:cNvPr>
          <p:cNvSpPr txBox="1"/>
          <p:nvPr/>
        </p:nvSpPr>
        <p:spPr>
          <a:xfrm>
            <a:off x="1620234" y="4079048"/>
            <a:ext cx="1763752" cy="222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Store API token securely</a:t>
            </a:r>
            <a:endParaRPr kumimoji="1"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C8BC61-FD94-F1F5-7D3C-FF54D4A5AA4F}"/>
              </a:ext>
            </a:extLst>
          </p:cNvPr>
          <p:cNvSpPr txBox="1"/>
          <p:nvPr/>
        </p:nvSpPr>
        <p:spPr>
          <a:xfrm>
            <a:off x="1637181" y="4737881"/>
            <a:ext cx="2010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Extract data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129648-142B-9827-BD1B-3D1683F16555}"/>
              </a:ext>
            </a:extLst>
          </p:cNvPr>
          <p:cNvSpPr txBox="1"/>
          <p:nvPr/>
        </p:nvSpPr>
        <p:spPr>
          <a:xfrm>
            <a:off x="1637181" y="5388626"/>
            <a:ext cx="2010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Load raw JSON 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3BA3C1-1FBC-2972-6150-F194E0E7AE3E}"/>
              </a:ext>
            </a:extLst>
          </p:cNvPr>
          <p:cNvCxnSpPr/>
          <p:nvPr/>
        </p:nvCxnSpPr>
        <p:spPr>
          <a:xfrm>
            <a:off x="1035469" y="3446000"/>
            <a:ext cx="0" cy="178511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1A69C6-D885-1ECA-93B5-5A0AB33E505E}"/>
              </a:ext>
            </a:extLst>
          </p:cNvPr>
          <p:cNvCxnSpPr/>
          <p:nvPr/>
        </p:nvCxnSpPr>
        <p:spPr>
          <a:xfrm>
            <a:off x="3786690" y="3446000"/>
            <a:ext cx="0" cy="178511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9F160217-1A20-FB7C-D826-75556B5172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8594" y="4561796"/>
            <a:ext cx="401495" cy="35758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8896811-0FE0-1EF5-61EB-9CA3620CF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9406" y="3857125"/>
            <a:ext cx="403736" cy="40373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6A42D0C-200D-8D91-E895-99FBB691F2CD}"/>
              </a:ext>
            </a:extLst>
          </p:cNvPr>
          <p:cNvSpPr txBox="1"/>
          <p:nvPr/>
        </p:nvSpPr>
        <p:spPr>
          <a:xfrm>
            <a:off x="4380372" y="3805397"/>
            <a:ext cx="140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Cloud Function</a:t>
            </a:r>
            <a:endParaRPr kumimoji="1" lang="zh-CN" altLang="en-US" sz="1200" b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B4E6D82-8EC3-B4A1-8952-EFF5B0EBD459}"/>
              </a:ext>
            </a:extLst>
          </p:cNvPr>
          <p:cNvCxnSpPr>
            <a:cxnSpLocks/>
          </p:cNvCxnSpPr>
          <p:nvPr/>
        </p:nvCxnSpPr>
        <p:spPr>
          <a:xfrm>
            <a:off x="4180991" y="4260861"/>
            <a:ext cx="0" cy="23848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8CBACC3-1D05-30C8-FB4F-73C7D765F1E6}"/>
              </a:ext>
            </a:extLst>
          </p:cNvPr>
          <p:cNvSpPr txBox="1"/>
          <p:nvPr/>
        </p:nvSpPr>
        <p:spPr>
          <a:xfrm>
            <a:off x="4390089" y="4037610"/>
            <a:ext cx="2010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Parse the raw data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9C6A6F-695E-9D63-0038-9B0A479E7189}"/>
              </a:ext>
            </a:extLst>
          </p:cNvPr>
          <p:cNvSpPr txBox="1"/>
          <p:nvPr/>
        </p:nvSpPr>
        <p:spPr>
          <a:xfrm>
            <a:off x="4409488" y="4486176"/>
            <a:ext cx="140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 err="1"/>
              <a:t>BigQuery</a:t>
            </a:r>
            <a:endParaRPr kumimoji="1" lang="zh-CN" altLang="en-US" sz="12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98E7C2-F84D-837C-6777-7384FEE8C6C8}"/>
              </a:ext>
            </a:extLst>
          </p:cNvPr>
          <p:cNvSpPr txBox="1"/>
          <p:nvPr/>
        </p:nvSpPr>
        <p:spPr>
          <a:xfrm>
            <a:off x="4419206" y="4718389"/>
            <a:ext cx="1414340" cy="224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Load structured data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35A2B3-6037-BA4E-DD99-03E8B3E3EC9A}"/>
              </a:ext>
            </a:extLst>
          </p:cNvPr>
          <p:cNvCxnSpPr/>
          <p:nvPr/>
        </p:nvCxnSpPr>
        <p:spPr>
          <a:xfrm>
            <a:off x="6495106" y="3412762"/>
            <a:ext cx="0" cy="178511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0F0D5FEE-79DF-DED9-70B2-B4B73139E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2470" y="4529069"/>
            <a:ext cx="401495" cy="35758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027519B-67B1-5B5F-2652-2F45377D1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822" y="3823887"/>
            <a:ext cx="403736" cy="40373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D401C12-7EEB-9E7F-97BE-AFB0C1539D02}"/>
              </a:ext>
            </a:extLst>
          </p:cNvPr>
          <p:cNvSpPr txBox="1"/>
          <p:nvPr/>
        </p:nvSpPr>
        <p:spPr>
          <a:xfrm>
            <a:off x="7088788" y="3772159"/>
            <a:ext cx="140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Cloud Function</a:t>
            </a:r>
            <a:endParaRPr kumimoji="1" lang="zh-CN" altLang="en-US" sz="1200" b="1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B5A15C7-950A-633B-EA9E-96F2EBC33268}"/>
              </a:ext>
            </a:extLst>
          </p:cNvPr>
          <p:cNvCxnSpPr>
            <a:cxnSpLocks/>
          </p:cNvCxnSpPr>
          <p:nvPr/>
        </p:nvCxnSpPr>
        <p:spPr>
          <a:xfrm>
            <a:off x="6889407" y="4227623"/>
            <a:ext cx="0" cy="23848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A79B12B-81AF-5582-68FF-7D16DDBD0162}"/>
              </a:ext>
            </a:extLst>
          </p:cNvPr>
          <p:cNvSpPr txBox="1"/>
          <p:nvPr/>
        </p:nvSpPr>
        <p:spPr>
          <a:xfrm>
            <a:off x="7098506" y="4004372"/>
            <a:ext cx="1616206" cy="224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Clean and Transform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37C244-E0D7-CA18-4A3E-4554D8F90EEC}"/>
              </a:ext>
            </a:extLst>
          </p:cNvPr>
          <p:cNvSpPr txBox="1"/>
          <p:nvPr/>
        </p:nvSpPr>
        <p:spPr>
          <a:xfrm>
            <a:off x="7117904" y="4452938"/>
            <a:ext cx="140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 err="1"/>
              <a:t>BigQuery</a:t>
            </a:r>
            <a:endParaRPr kumimoji="1" lang="zh-CN" altLang="en-US" sz="12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517770-F85F-A044-B7CF-CCBC23DA3499}"/>
              </a:ext>
            </a:extLst>
          </p:cNvPr>
          <p:cNvSpPr txBox="1"/>
          <p:nvPr/>
        </p:nvSpPr>
        <p:spPr>
          <a:xfrm>
            <a:off x="7127622" y="4685151"/>
            <a:ext cx="1414340" cy="352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Save clean, analysis-ready tables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E08B449-91EC-F3A8-47AD-C3ABD8C325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9798" y="4525897"/>
            <a:ext cx="316049" cy="31604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64E22FE-3491-C672-A2F7-30E5047B60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5176" y="3815237"/>
            <a:ext cx="385294" cy="385294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235690A-4ACC-3B42-9466-5F45D9E211A7}"/>
              </a:ext>
            </a:extLst>
          </p:cNvPr>
          <p:cNvCxnSpPr/>
          <p:nvPr/>
        </p:nvCxnSpPr>
        <p:spPr>
          <a:xfrm>
            <a:off x="9203522" y="3391275"/>
            <a:ext cx="0" cy="178511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1852236-F4E1-3312-636D-7BA63E0ED2D1}"/>
              </a:ext>
            </a:extLst>
          </p:cNvPr>
          <p:cNvSpPr txBox="1"/>
          <p:nvPr/>
        </p:nvSpPr>
        <p:spPr>
          <a:xfrm>
            <a:off x="9797204" y="3750672"/>
            <a:ext cx="140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Astronomer</a:t>
            </a:r>
            <a:endParaRPr kumimoji="1" lang="zh-CN" altLang="en-US" sz="1200" b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F13A23D-76A2-471E-57F1-E16A2123E535}"/>
              </a:ext>
            </a:extLst>
          </p:cNvPr>
          <p:cNvCxnSpPr>
            <a:cxnSpLocks/>
          </p:cNvCxnSpPr>
          <p:nvPr/>
        </p:nvCxnSpPr>
        <p:spPr>
          <a:xfrm>
            <a:off x="9597822" y="4249589"/>
            <a:ext cx="0" cy="23848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44473CC-85D2-23B3-9C0A-F58F008B42BF}"/>
              </a:ext>
            </a:extLst>
          </p:cNvPr>
          <p:cNvSpPr txBox="1"/>
          <p:nvPr/>
        </p:nvSpPr>
        <p:spPr>
          <a:xfrm>
            <a:off x="9806922" y="3982885"/>
            <a:ext cx="1437740" cy="352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Host and run our Airflow DAGs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137533-CE84-C8BD-5547-32A6D2670476}"/>
              </a:ext>
            </a:extLst>
          </p:cNvPr>
          <p:cNvSpPr txBox="1"/>
          <p:nvPr/>
        </p:nvSpPr>
        <p:spPr>
          <a:xfrm>
            <a:off x="9826320" y="4431451"/>
            <a:ext cx="140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Airflow</a:t>
            </a:r>
            <a:endParaRPr kumimoji="1" lang="zh-CN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1F232D-EE1F-7F5C-A468-C3E45BF0ACF7}"/>
              </a:ext>
            </a:extLst>
          </p:cNvPr>
          <p:cNvSpPr txBox="1"/>
          <p:nvPr/>
        </p:nvSpPr>
        <p:spPr>
          <a:xfrm>
            <a:off x="9836038" y="4663664"/>
            <a:ext cx="1365823" cy="352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Track and automate weekly jobs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FD91329-0C91-C591-FF84-8B407654E4CD}"/>
              </a:ext>
            </a:extLst>
          </p:cNvPr>
          <p:cNvSpPr/>
          <p:nvPr/>
        </p:nvSpPr>
        <p:spPr>
          <a:xfrm>
            <a:off x="877443" y="1743492"/>
            <a:ext cx="10600997" cy="6414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Dev Environment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Cloud Shell</a:t>
            </a:r>
            <a:endParaRPr kumimoji="1" lang="zh-CN" alt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4713294-4D23-34E7-1D0E-9434D84CC7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676" y="1781183"/>
            <a:ext cx="562619" cy="562619"/>
          </a:xfrm>
          <a:prstGeom prst="rect">
            <a:avLst/>
          </a:prstGeom>
        </p:spPr>
      </p:pic>
      <p:sp>
        <p:nvSpPr>
          <p:cNvPr id="70" name="Oval 69">
            <a:extLst>
              <a:ext uri="{FF2B5EF4-FFF2-40B4-BE49-F238E27FC236}">
                <a16:creationId xmlns:a16="http://schemas.microsoft.com/office/drawing/2014/main" id="{86A11BDF-CDE8-C9BC-F4B4-F228958FC775}"/>
              </a:ext>
            </a:extLst>
          </p:cNvPr>
          <p:cNvSpPr/>
          <p:nvPr/>
        </p:nvSpPr>
        <p:spPr>
          <a:xfrm>
            <a:off x="7906609" y="5803416"/>
            <a:ext cx="518655" cy="5122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762B164-71DA-083A-0054-40278613A91C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8185" y="5812551"/>
            <a:ext cx="546386" cy="5463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0D61C8-16AA-D147-BF27-FB27BB41E748}"/>
              </a:ext>
            </a:extLst>
          </p:cNvPr>
          <p:cNvSpPr/>
          <p:nvPr/>
        </p:nvSpPr>
        <p:spPr>
          <a:xfrm>
            <a:off x="3522873" y="2481016"/>
            <a:ext cx="2519414" cy="671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Data Parsing</a:t>
            </a:r>
            <a:endParaRPr kumimoji="1" lang="zh-CN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77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4993-7897-1198-E320-5C3708CE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98F132B-C34B-4FC1-C761-C8BED3458DD7}"/>
              </a:ext>
            </a:extLst>
          </p:cNvPr>
          <p:cNvSpPr/>
          <p:nvPr/>
        </p:nvSpPr>
        <p:spPr>
          <a:xfrm>
            <a:off x="10419133" y="1446210"/>
            <a:ext cx="1669200" cy="18263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99AA94-AEC3-8786-6A0B-9C52F382429F}"/>
              </a:ext>
            </a:extLst>
          </p:cNvPr>
          <p:cNvSpPr/>
          <p:nvPr/>
        </p:nvSpPr>
        <p:spPr>
          <a:xfrm>
            <a:off x="1994053" y="1156771"/>
            <a:ext cx="8208725" cy="25487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1FD499-DA70-E83B-0DBC-D095ED98CCAC}"/>
              </a:ext>
            </a:extLst>
          </p:cNvPr>
          <p:cNvSpPr txBox="1"/>
          <p:nvPr/>
        </p:nvSpPr>
        <p:spPr>
          <a:xfrm>
            <a:off x="10519501" y="1846366"/>
            <a:ext cx="14684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Scheduled DAG to run </a:t>
            </a:r>
            <a:r>
              <a:rPr 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weekly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Saturday at 8 pm 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Boston time.</a:t>
            </a:r>
            <a:endParaRPr kumimoji="1" lang="zh-CN" altLang="en-US" sz="1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screenshot of a calendar&#10;&#10;AI-generated content may be incorrect.">
            <a:extLst>
              <a:ext uri="{FF2B5EF4-FFF2-40B4-BE49-F238E27FC236}">
                <a16:creationId xmlns:a16="http://schemas.microsoft.com/office/drawing/2014/main" id="{F11C5726-3EE3-76B2-B76E-61C2E95D7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248" y="1299088"/>
            <a:ext cx="6934778" cy="23419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362EF8-ABC9-2455-6495-2B2BD7D7C149}"/>
              </a:ext>
            </a:extLst>
          </p:cNvPr>
          <p:cNvSpPr/>
          <p:nvPr/>
        </p:nvSpPr>
        <p:spPr>
          <a:xfrm>
            <a:off x="1994049" y="3911892"/>
            <a:ext cx="8208727" cy="25487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6A6E63-C077-D5BE-8D0E-8F16EBF8B4D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5F9FC"/>
              </a:clrFrom>
              <a:clrTo>
                <a:srgbClr val="F5F9FC">
                  <a:alpha val="0"/>
                </a:srgbClr>
              </a:clrTo>
            </a:clrChange>
          </a:blip>
          <a:srcRect t="10138"/>
          <a:stretch>
            <a:fillRect/>
          </a:stretch>
        </p:blipFill>
        <p:spPr>
          <a:xfrm>
            <a:off x="1921791" y="4085919"/>
            <a:ext cx="8276160" cy="21426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0653659-D10D-B5D7-9321-99BAFC0BA26A}"/>
              </a:ext>
            </a:extLst>
          </p:cNvPr>
          <p:cNvSpPr/>
          <p:nvPr/>
        </p:nvSpPr>
        <p:spPr>
          <a:xfrm>
            <a:off x="629257" y="1242929"/>
            <a:ext cx="1335749" cy="24589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Pipeline</a:t>
            </a:r>
          </a:p>
          <a:p>
            <a:pPr algn="ctr"/>
            <a:r>
              <a:rPr kumimoji="1" lang="en-US" altLang="zh-CN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  <a:endParaRPr kumimoji="1" lang="zh-CN" alt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85CD43-D7F8-09CF-3421-6B211F28F38B}"/>
              </a:ext>
            </a:extLst>
          </p:cNvPr>
          <p:cNvSpPr/>
          <p:nvPr/>
        </p:nvSpPr>
        <p:spPr>
          <a:xfrm>
            <a:off x="629256" y="3998050"/>
            <a:ext cx="1335750" cy="24589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Pipeline</a:t>
            </a:r>
            <a:r>
              <a:rPr lang="zh-CN" altLang="en-US" sz="2000" b="1" dirty="0">
                <a:solidFill>
                  <a:schemeClr val="bg1"/>
                </a:solidFill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</a:rPr>
              <a:t>Structure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</a:rPr>
              <a:t>——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</a:t>
            </a:r>
            <a:r>
              <a:rPr lang="en-US" altLang="zh-CN" sz="2000" b="1" dirty="0">
                <a:solidFill>
                  <a:schemeClr val="bg1"/>
                </a:solidFill>
              </a:rPr>
              <a:t>loud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C66D27-2EEF-5634-989C-BE54C547CDE6}"/>
              </a:ext>
            </a:extLst>
          </p:cNvPr>
          <p:cNvSpPr/>
          <p:nvPr/>
        </p:nvSpPr>
        <p:spPr>
          <a:xfrm>
            <a:off x="3502320" y="4256095"/>
            <a:ext cx="3153022" cy="130281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E9A970-43A8-F92F-8613-4DA5FA4F9ED5}"/>
              </a:ext>
            </a:extLst>
          </p:cNvPr>
          <p:cNvSpPr/>
          <p:nvPr/>
        </p:nvSpPr>
        <p:spPr>
          <a:xfrm>
            <a:off x="8163613" y="4053840"/>
            <a:ext cx="1925965" cy="2043389"/>
          </a:xfrm>
          <a:prstGeom prst="roundRect">
            <a:avLst/>
          </a:prstGeom>
          <a:solidFill>
            <a:schemeClr val="tx2">
              <a:lumMod val="10000"/>
              <a:lumOff val="90000"/>
              <a:alpha val="2189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A5ECBA-3E31-DBEF-9A57-9C727C4B9432}"/>
              </a:ext>
            </a:extLst>
          </p:cNvPr>
          <p:cNvCxnSpPr>
            <a:cxnSpLocks/>
          </p:cNvCxnSpPr>
          <p:nvPr/>
        </p:nvCxnSpPr>
        <p:spPr>
          <a:xfrm>
            <a:off x="5072664" y="5632497"/>
            <a:ext cx="0" cy="25266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6EE180-19A7-065A-87C5-3C9C12F7D0E0}"/>
              </a:ext>
            </a:extLst>
          </p:cNvPr>
          <p:cNvCxnSpPr>
            <a:cxnSpLocks/>
          </p:cNvCxnSpPr>
          <p:nvPr/>
        </p:nvCxnSpPr>
        <p:spPr>
          <a:xfrm>
            <a:off x="7457975" y="5075534"/>
            <a:ext cx="0" cy="25266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CBA238-225B-363F-12D2-2D4DDA52F34F}"/>
              </a:ext>
            </a:extLst>
          </p:cNvPr>
          <p:cNvCxnSpPr>
            <a:cxnSpLocks/>
          </p:cNvCxnSpPr>
          <p:nvPr/>
        </p:nvCxnSpPr>
        <p:spPr>
          <a:xfrm>
            <a:off x="2680363" y="5059189"/>
            <a:ext cx="0" cy="25266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5B06601-B037-4984-1271-3BA3D904963C}"/>
              </a:ext>
            </a:extLst>
          </p:cNvPr>
          <p:cNvSpPr txBox="1"/>
          <p:nvPr/>
        </p:nvSpPr>
        <p:spPr>
          <a:xfrm>
            <a:off x="2047829" y="3947419"/>
            <a:ext cx="1454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002060"/>
                </a:solidFill>
              </a:rPr>
              <a:t>01</a:t>
            </a:r>
            <a:r>
              <a:rPr lang="zh-CN" altLang="en-US" sz="1200" b="1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Schema Setup</a:t>
            </a:r>
            <a:endParaRPr kumimoji="1" lang="zh-CN" altLang="en-US" sz="1200" b="1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D60EA8-2DFF-BBFF-3D2F-0FD73A45B1B4}"/>
              </a:ext>
            </a:extLst>
          </p:cNvPr>
          <p:cNvSpPr txBox="1"/>
          <p:nvPr/>
        </p:nvSpPr>
        <p:spPr>
          <a:xfrm>
            <a:off x="4283346" y="3950215"/>
            <a:ext cx="1454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002060"/>
                </a:solidFill>
              </a:rPr>
              <a:t>02</a:t>
            </a:r>
            <a:r>
              <a:rPr lang="zh-CN" altLang="en-US" sz="1200" b="1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Data Extraction</a:t>
            </a:r>
            <a:endParaRPr kumimoji="1" lang="zh-CN" altLang="en-US" sz="12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A1A388-240D-3C05-6159-7652528871C7}"/>
              </a:ext>
            </a:extLst>
          </p:cNvPr>
          <p:cNvSpPr txBox="1"/>
          <p:nvPr/>
        </p:nvSpPr>
        <p:spPr>
          <a:xfrm>
            <a:off x="6730729" y="3947419"/>
            <a:ext cx="1454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002060"/>
                </a:solidFill>
              </a:rPr>
              <a:t>03</a:t>
            </a:r>
            <a:r>
              <a:rPr lang="zh-CN" altLang="en-US" sz="1200" b="1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Data Parsing</a:t>
            </a:r>
            <a:endParaRPr kumimoji="1" lang="zh-CN" altLang="en-US" sz="1200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421944-AF24-55EE-069C-9F115334F079}"/>
              </a:ext>
            </a:extLst>
          </p:cNvPr>
          <p:cNvSpPr txBox="1"/>
          <p:nvPr/>
        </p:nvSpPr>
        <p:spPr>
          <a:xfrm>
            <a:off x="8342492" y="3947419"/>
            <a:ext cx="1925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002060"/>
                </a:solidFill>
              </a:rPr>
              <a:t>04</a:t>
            </a:r>
            <a:r>
              <a:rPr lang="zh-CN" altLang="en-US" sz="1200" b="1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Data Transformation</a:t>
            </a:r>
            <a:endParaRPr kumimoji="1" lang="zh-CN" altLang="en-US" sz="12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0F2292-CC3B-C3B9-3EDA-035A016DDD54}"/>
              </a:ext>
            </a:extLst>
          </p:cNvPr>
          <p:cNvSpPr txBox="1"/>
          <p:nvPr/>
        </p:nvSpPr>
        <p:spPr>
          <a:xfrm>
            <a:off x="2058492" y="5352351"/>
            <a:ext cx="1282390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raw tables in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BigQuery</a:t>
            </a:r>
            <a:endParaRPr kumimoji="1"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18BB57-D41B-0340-8B89-1B1A74C262F1}"/>
              </a:ext>
            </a:extLst>
          </p:cNvPr>
          <p:cNvSpPr txBox="1"/>
          <p:nvPr/>
        </p:nvSpPr>
        <p:spPr>
          <a:xfrm>
            <a:off x="4414759" y="5954782"/>
            <a:ext cx="1282390" cy="354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Fetch raw data from GitHub</a:t>
            </a:r>
            <a:endParaRPr kumimoji="1"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74BC5B-9A42-9129-5E96-21B55AAA7C2F}"/>
              </a:ext>
            </a:extLst>
          </p:cNvPr>
          <p:cNvSpPr txBox="1"/>
          <p:nvPr/>
        </p:nvSpPr>
        <p:spPr>
          <a:xfrm>
            <a:off x="6805836" y="5336874"/>
            <a:ext cx="1282390" cy="354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Convert &amp; clean JSON files</a:t>
            </a:r>
            <a:endParaRPr kumimoji="1"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9001637-C8FE-6BDE-245B-D16EB251817E}"/>
              </a:ext>
            </a:extLst>
          </p:cNvPr>
          <p:cNvCxnSpPr>
            <a:cxnSpLocks/>
          </p:cNvCxnSpPr>
          <p:nvPr/>
        </p:nvCxnSpPr>
        <p:spPr>
          <a:xfrm>
            <a:off x="9111252" y="5844566"/>
            <a:ext cx="0" cy="25266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973982-6955-9353-67C4-83A517EFEAA1}"/>
              </a:ext>
            </a:extLst>
          </p:cNvPr>
          <p:cNvSpPr txBox="1"/>
          <p:nvPr/>
        </p:nvSpPr>
        <p:spPr>
          <a:xfrm>
            <a:off x="8301496" y="6097272"/>
            <a:ext cx="1619511" cy="354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Generate clean, analysis-ready tables</a:t>
            </a:r>
            <a:endParaRPr kumimoji="1"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269AF83-B61E-DFAB-110F-7F0A25FD420D}"/>
              </a:ext>
            </a:extLst>
          </p:cNvPr>
          <p:cNvSpPr/>
          <p:nvPr/>
        </p:nvSpPr>
        <p:spPr>
          <a:xfrm>
            <a:off x="10425728" y="4224418"/>
            <a:ext cx="1669200" cy="18263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1BF99E-E350-33D4-08C4-1B6127F14794}"/>
              </a:ext>
            </a:extLst>
          </p:cNvPr>
          <p:cNvSpPr txBox="1"/>
          <p:nvPr/>
        </p:nvSpPr>
        <p:spPr>
          <a:xfrm>
            <a:off x="10526096" y="4624574"/>
            <a:ext cx="14684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Tasks are executed in the </a:t>
            </a:r>
            <a:r>
              <a:rPr lang="en-US" sz="1400" b="1" dirty="0">
                <a:solidFill>
                  <a:srgbClr val="0070C0"/>
                </a:solidFill>
              </a:rPr>
              <a:t>cloud,</a:t>
            </a:r>
            <a:r>
              <a:rPr lang="en-US" sz="1400" dirty="0">
                <a:solidFill>
                  <a:srgbClr val="0070C0"/>
                </a:solidFill>
              </a:rPr>
              <a:t> orchestrated by </a:t>
            </a:r>
            <a:r>
              <a:rPr lang="en-US" sz="1400" b="1" dirty="0">
                <a:solidFill>
                  <a:srgbClr val="0070C0"/>
                </a:solidFill>
              </a:rPr>
              <a:t>Airflow DAGs</a:t>
            </a:r>
            <a:endParaRPr kumimoji="1" lang="zh-CN" altLang="en-US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E4F992-5AA5-24CC-5D55-C19463F25056}"/>
              </a:ext>
            </a:extLst>
          </p:cNvPr>
          <p:cNvSpPr txBox="1"/>
          <p:nvPr/>
        </p:nvSpPr>
        <p:spPr>
          <a:xfrm>
            <a:off x="556998" y="397365"/>
            <a:ext cx="6098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End-to-End Data Pipeline: Data</a:t>
            </a:r>
            <a:r>
              <a:rPr lang="zh-CN" altLang="en-US" sz="2400" dirty="0"/>
              <a:t> </a:t>
            </a:r>
            <a:r>
              <a:rPr lang="en-US" sz="2400" dirty="0"/>
              <a:t>Workflow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805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728</Words>
  <Application>Microsoft Macintosh PowerPoint</Application>
  <PresentationFormat>Widescreen</PresentationFormat>
  <Paragraphs>178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Hong, Manyi</dc:creator>
  <cp:lastModifiedBy>Hong, Manyi</cp:lastModifiedBy>
  <cp:revision>21</cp:revision>
  <dcterms:created xsi:type="dcterms:W3CDTF">2025-10-20T19:23:37Z</dcterms:created>
  <dcterms:modified xsi:type="dcterms:W3CDTF">2025-12-08T22:15:37Z</dcterms:modified>
</cp:coreProperties>
</file>